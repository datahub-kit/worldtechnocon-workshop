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8"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9" r:id="rId22"/>
    <p:sldId id="280" r:id="rId23"/>
    <p:sldId id="281" r:id="rId24"/>
    <p:sldId id="282" r:id="rId25"/>
    <p:sldId id="283" r:id="rId26"/>
    <p:sldId id="287" r:id="rId27"/>
    <p:sldId id="288" r:id="rId28"/>
    <p:sldId id="284" r:id="rId29"/>
    <p:sldId id="285" r:id="rId30"/>
    <p:sldId id="286" r:id="rId31"/>
    <p:sldId id="277" r:id="rId32"/>
    <p:sldId id="262" r:id="rId33"/>
    <p:sldId id="263"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86" r:id="rId50"/>
    <p:sldId id="305" r:id="rId51"/>
    <p:sldId id="388" r:id="rId52"/>
    <p:sldId id="389" r:id="rId53"/>
    <p:sldId id="390" r:id="rId54"/>
    <p:sldId id="391" r:id="rId55"/>
    <p:sldId id="392" r:id="rId56"/>
    <p:sldId id="394" r:id="rId57"/>
    <p:sldId id="393" r:id="rId58"/>
    <p:sldId id="395" r:id="rId59"/>
    <p:sldId id="396" r:id="rId60"/>
    <p:sldId id="306" r:id="rId61"/>
    <p:sldId id="307" r:id="rId62"/>
    <p:sldId id="308" r:id="rId63"/>
    <p:sldId id="333" r:id="rId64"/>
    <p:sldId id="334" r:id="rId65"/>
    <p:sldId id="335" r:id="rId66"/>
    <p:sldId id="336" r:id="rId67"/>
    <p:sldId id="337" r:id="rId68"/>
    <p:sldId id="338" r:id="rId69"/>
    <p:sldId id="340" r:id="rId70"/>
    <p:sldId id="341" r:id="rId71"/>
    <p:sldId id="342" r:id="rId72"/>
    <p:sldId id="343" r:id="rId73"/>
    <p:sldId id="344" r:id="rId74"/>
    <p:sldId id="345" r:id="rId75"/>
    <p:sldId id="346" r:id="rId76"/>
    <p:sldId id="347" r:id="rId77"/>
    <p:sldId id="348" r:id="rId78"/>
    <p:sldId id="349" r:id="rId79"/>
    <p:sldId id="350" r:id="rId80"/>
    <p:sldId id="351" r:id="rId81"/>
    <p:sldId id="352" r:id="rId82"/>
    <p:sldId id="353" r:id="rId83"/>
    <p:sldId id="354" r:id="rId84"/>
    <p:sldId id="355" r:id="rId85"/>
    <p:sldId id="356" r:id="rId86"/>
    <p:sldId id="357" r:id="rId87"/>
    <p:sldId id="358" r:id="rId88"/>
    <p:sldId id="359" r:id="rId89"/>
    <p:sldId id="360" r:id="rId90"/>
    <p:sldId id="361" r:id="rId91"/>
    <p:sldId id="362" r:id="rId92"/>
    <p:sldId id="363" r:id="rId93"/>
    <p:sldId id="364" r:id="rId94"/>
    <p:sldId id="365" r:id="rId95"/>
    <p:sldId id="366" r:id="rId96"/>
    <p:sldId id="367" r:id="rId97"/>
    <p:sldId id="368" r:id="rId98"/>
    <p:sldId id="369" r:id="rId99"/>
    <p:sldId id="370" r:id="rId100"/>
    <p:sldId id="371" r:id="rId101"/>
    <p:sldId id="372" r:id="rId102"/>
    <p:sldId id="373" r:id="rId103"/>
    <p:sldId id="374" r:id="rId104"/>
    <p:sldId id="289" r:id="rId105"/>
    <p:sldId id="375" r:id="rId106"/>
    <p:sldId id="376" r:id="rId107"/>
    <p:sldId id="377" r:id="rId108"/>
    <p:sldId id="378" r:id="rId109"/>
    <p:sldId id="379" r:id="rId110"/>
    <p:sldId id="380" r:id="rId111"/>
    <p:sldId id="381" r:id="rId112"/>
    <p:sldId id="382" r:id="rId113"/>
    <p:sldId id="383" r:id="rId114"/>
    <p:sldId id="384" r:id="rId115"/>
    <p:sldId id="385" r:id="rId116"/>
    <p:sldId id="312" r:id="rId117"/>
    <p:sldId id="313" r:id="rId1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8" d="100"/>
          <a:sy n="78" d="100"/>
        </p:scale>
        <p:origin x="18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A2C79-8635-41F3-BDAC-96EB8BC481E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218BB5-72D8-4C00-86C3-781FF977BB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3C0B1AE-20CE-4A22-8828-0C4D7D25D233}"/>
              </a:ext>
            </a:extLst>
          </p:cNvPr>
          <p:cNvSpPr>
            <a:spLocks noGrp="1"/>
          </p:cNvSpPr>
          <p:nvPr>
            <p:ph type="dt" sz="half" idx="10"/>
          </p:nvPr>
        </p:nvSpPr>
        <p:spPr/>
        <p:txBody>
          <a:bodyPr/>
          <a:lstStyle/>
          <a:p>
            <a:fld id="{CE1F8580-DA54-4C92-AE95-B0D402534DAC}" type="datetimeFigureOut">
              <a:rPr lang="en-IN" smtClean="0"/>
              <a:t>17-09-2026</a:t>
            </a:fld>
            <a:endParaRPr lang="en-IN"/>
          </a:p>
        </p:txBody>
      </p:sp>
      <p:sp>
        <p:nvSpPr>
          <p:cNvPr id="5" name="Footer Placeholder 4">
            <a:extLst>
              <a:ext uri="{FF2B5EF4-FFF2-40B4-BE49-F238E27FC236}">
                <a16:creationId xmlns:a16="http://schemas.microsoft.com/office/drawing/2014/main" id="{09DB408C-CA48-4DF4-80DB-DD97646202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2EAAD7-F386-47D7-9237-DA8103FE493A}"/>
              </a:ext>
            </a:extLst>
          </p:cNvPr>
          <p:cNvSpPr>
            <a:spLocks noGrp="1"/>
          </p:cNvSpPr>
          <p:nvPr>
            <p:ph type="sldNum" sz="quarter" idx="12"/>
          </p:nvPr>
        </p:nvSpPr>
        <p:spPr/>
        <p:txBody>
          <a:bodyPr/>
          <a:lstStyle/>
          <a:p>
            <a:fld id="{3D195D95-684F-4AAD-9BEA-B99F93FE3054}" type="slidenum">
              <a:rPr lang="en-IN" smtClean="0"/>
              <a:t>‹#›</a:t>
            </a:fld>
            <a:endParaRPr lang="en-IN"/>
          </a:p>
        </p:txBody>
      </p:sp>
    </p:spTree>
    <p:extLst>
      <p:ext uri="{BB962C8B-B14F-4D97-AF65-F5344CB8AC3E}">
        <p14:creationId xmlns:p14="http://schemas.microsoft.com/office/powerpoint/2010/main" val="18972784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1D848-3F6A-4C24-9572-99A0150B15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24333B-5920-4940-9F5B-85AE2276C8A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E1EFF4-C21C-48FD-BDCB-AEA8D0F0DDAB}"/>
              </a:ext>
            </a:extLst>
          </p:cNvPr>
          <p:cNvSpPr>
            <a:spLocks noGrp="1"/>
          </p:cNvSpPr>
          <p:nvPr>
            <p:ph type="dt" sz="half" idx="10"/>
          </p:nvPr>
        </p:nvSpPr>
        <p:spPr/>
        <p:txBody>
          <a:bodyPr/>
          <a:lstStyle/>
          <a:p>
            <a:fld id="{CE1F8580-DA54-4C92-AE95-B0D402534DAC}" type="datetimeFigureOut">
              <a:rPr lang="en-IN" smtClean="0"/>
              <a:t>17-09-2026</a:t>
            </a:fld>
            <a:endParaRPr lang="en-IN"/>
          </a:p>
        </p:txBody>
      </p:sp>
      <p:sp>
        <p:nvSpPr>
          <p:cNvPr id="5" name="Footer Placeholder 4">
            <a:extLst>
              <a:ext uri="{FF2B5EF4-FFF2-40B4-BE49-F238E27FC236}">
                <a16:creationId xmlns:a16="http://schemas.microsoft.com/office/drawing/2014/main" id="{96628270-6401-414E-9015-7D8BFA0878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2C58E5-2D2E-40ED-872F-A8AAA8D6D4C4}"/>
              </a:ext>
            </a:extLst>
          </p:cNvPr>
          <p:cNvSpPr>
            <a:spLocks noGrp="1"/>
          </p:cNvSpPr>
          <p:nvPr>
            <p:ph type="sldNum" sz="quarter" idx="12"/>
          </p:nvPr>
        </p:nvSpPr>
        <p:spPr/>
        <p:txBody>
          <a:bodyPr/>
          <a:lstStyle/>
          <a:p>
            <a:fld id="{3D195D95-684F-4AAD-9BEA-B99F93FE3054}" type="slidenum">
              <a:rPr lang="en-IN" smtClean="0"/>
              <a:t>‹#›</a:t>
            </a:fld>
            <a:endParaRPr lang="en-IN"/>
          </a:p>
        </p:txBody>
      </p:sp>
    </p:spTree>
    <p:extLst>
      <p:ext uri="{BB962C8B-B14F-4D97-AF65-F5344CB8AC3E}">
        <p14:creationId xmlns:p14="http://schemas.microsoft.com/office/powerpoint/2010/main" val="284683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68755-D605-4C78-A3D6-17B26F9EB9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81318E6-4CAB-4F93-B6F2-46342588F9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9E1CB50-0D84-4B60-A9F5-F34F28807518}"/>
              </a:ext>
            </a:extLst>
          </p:cNvPr>
          <p:cNvSpPr>
            <a:spLocks noGrp="1"/>
          </p:cNvSpPr>
          <p:nvPr>
            <p:ph type="dt" sz="half" idx="10"/>
          </p:nvPr>
        </p:nvSpPr>
        <p:spPr/>
        <p:txBody>
          <a:bodyPr/>
          <a:lstStyle/>
          <a:p>
            <a:fld id="{CE1F8580-DA54-4C92-AE95-B0D402534DAC}" type="datetimeFigureOut">
              <a:rPr lang="en-IN" smtClean="0"/>
              <a:t>17-09-2026</a:t>
            </a:fld>
            <a:endParaRPr lang="en-IN"/>
          </a:p>
        </p:txBody>
      </p:sp>
      <p:sp>
        <p:nvSpPr>
          <p:cNvPr id="5" name="Footer Placeholder 4">
            <a:extLst>
              <a:ext uri="{FF2B5EF4-FFF2-40B4-BE49-F238E27FC236}">
                <a16:creationId xmlns:a16="http://schemas.microsoft.com/office/drawing/2014/main" id="{9DFC53D3-26C3-4E2E-B0B3-8BF5975136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00FE34-3C3E-488A-8EB4-7F75636EE4A9}"/>
              </a:ext>
            </a:extLst>
          </p:cNvPr>
          <p:cNvSpPr>
            <a:spLocks noGrp="1"/>
          </p:cNvSpPr>
          <p:nvPr>
            <p:ph type="sldNum" sz="quarter" idx="12"/>
          </p:nvPr>
        </p:nvSpPr>
        <p:spPr/>
        <p:txBody>
          <a:bodyPr/>
          <a:lstStyle/>
          <a:p>
            <a:fld id="{3D195D95-684F-4AAD-9BEA-B99F93FE3054}" type="slidenum">
              <a:rPr lang="en-IN" smtClean="0"/>
              <a:t>‹#›</a:t>
            </a:fld>
            <a:endParaRPr lang="en-IN"/>
          </a:p>
        </p:txBody>
      </p:sp>
    </p:spTree>
    <p:extLst>
      <p:ext uri="{BB962C8B-B14F-4D97-AF65-F5344CB8AC3E}">
        <p14:creationId xmlns:p14="http://schemas.microsoft.com/office/powerpoint/2010/main" val="1107547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BCCBE-A331-48AC-BD61-2375F2B920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DFC045-5675-4F52-96B6-1B72D290C3B1}"/>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A99A9FD-F84A-487F-99D9-72068CB4339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A73110-2F66-43C7-976C-2274E358B2D3}"/>
              </a:ext>
            </a:extLst>
          </p:cNvPr>
          <p:cNvSpPr>
            <a:spLocks noGrp="1"/>
          </p:cNvSpPr>
          <p:nvPr>
            <p:ph type="dt" sz="half" idx="10"/>
          </p:nvPr>
        </p:nvSpPr>
        <p:spPr/>
        <p:txBody>
          <a:bodyPr/>
          <a:lstStyle/>
          <a:p>
            <a:fld id="{CE1F8580-DA54-4C92-AE95-B0D402534DAC}" type="datetimeFigureOut">
              <a:rPr lang="en-IN" smtClean="0"/>
              <a:t>17-09-2026</a:t>
            </a:fld>
            <a:endParaRPr lang="en-IN"/>
          </a:p>
        </p:txBody>
      </p:sp>
      <p:sp>
        <p:nvSpPr>
          <p:cNvPr id="6" name="Footer Placeholder 5">
            <a:extLst>
              <a:ext uri="{FF2B5EF4-FFF2-40B4-BE49-F238E27FC236}">
                <a16:creationId xmlns:a16="http://schemas.microsoft.com/office/drawing/2014/main" id="{17382916-6AEE-4D56-B6B1-B4C86B52B6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4FF9C6-B915-422D-868C-715F620FE3C4}"/>
              </a:ext>
            </a:extLst>
          </p:cNvPr>
          <p:cNvSpPr>
            <a:spLocks noGrp="1"/>
          </p:cNvSpPr>
          <p:nvPr>
            <p:ph type="sldNum" sz="quarter" idx="12"/>
          </p:nvPr>
        </p:nvSpPr>
        <p:spPr/>
        <p:txBody>
          <a:bodyPr/>
          <a:lstStyle/>
          <a:p>
            <a:fld id="{3D195D95-684F-4AAD-9BEA-B99F93FE3054}" type="slidenum">
              <a:rPr lang="en-IN" smtClean="0"/>
              <a:t>‹#›</a:t>
            </a:fld>
            <a:endParaRPr lang="en-IN"/>
          </a:p>
        </p:txBody>
      </p:sp>
    </p:spTree>
    <p:extLst>
      <p:ext uri="{BB962C8B-B14F-4D97-AF65-F5344CB8AC3E}">
        <p14:creationId xmlns:p14="http://schemas.microsoft.com/office/powerpoint/2010/main" val="378479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F2A13-3774-4D2A-B2B9-B116FDE2796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528087-AEAB-4FA7-A350-0267101410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F667FFF-7BFA-4B79-B2E9-203A12CAF95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096E6E7-4A77-4283-9491-487478092B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0CC45D1-4EFD-4C58-9BE5-BCBEB8DE2DF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75F05C-F4EB-44EA-ADF6-DECA0879EE50}"/>
              </a:ext>
            </a:extLst>
          </p:cNvPr>
          <p:cNvSpPr>
            <a:spLocks noGrp="1"/>
          </p:cNvSpPr>
          <p:nvPr>
            <p:ph type="dt" sz="half" idx="10"/>
          </p:nvPr>
        </p:nvSpPr>
        <p:spPr/>
        <p:txBody>
          <a:bodyPr/>
          <a:lstStyle/>
          <a:p>
            <a:fld id="{CE1F8580-DA54-4C92-AE95-B0D402534DAC}" type="datetimeFigureOut">
              <a:rPr lang="en-IN" smtClean="0"/>
              <a:t>17-09-2026</a:t>
            </a:fld>
            <a:endParaRPr lang="en-IN"/>
          </a:p>
        </p:txBody>
      </p:sp>
      <p:sp>
        <p:nvSpPr>
          <p:cNvPr id="8" name="Footer Placeholder 7">
            <a:extLst>
              <a:ext uri="{FF2B5EF4-FFF2-40B4-BE49-F238E27FC236}">
                <a16:creationId xmlns:a16="http://schemas.microsoft.com/office/drawing/2014/main" id="{36E07883-380A-4830-A4CA-F9936057BA1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BC8D3D4-AF1D-4F8F-BD4C-AB488B00075D}"/>
              </a:ext>
            </a:extLst>
          </p:cNvPr>
          <p:cNvSpPr>
            <a:spLocks noGrp="1"/>
          </p:cNvSpPr>
          <p:nvPr>
            <p:ph type="sldNum" sz="quarter" idx="12"/>
          </p:nvPr>
        </p:nvSpPr>
        <p:spPr/>
        <p:txBody>
          <a:bodyPr/>
          <a:lstStyle/>
          <a:p>
            <a:fld id="{3D195D95-684F-4AAD-9BEA-B99F93FE3054}" type="slidenum">
              <a:rPr lang="en-IN" smtClean="0"/>
              <a:t>‹#›</a:t>
            </a:fld>
            <a:endParaRPr lang="en-IN"/>
          </a:p>
        </p:txBody>
      </p:sp>
    </p:spTree>
    <p:extLst>
      <p:ext uri="{BB962C8B-B14F-4D97-AF65-F5344CB8AC3E}">
        <p14:creationId xmlns:p14="http://schemas.microsoft.com/office/powerpoint/2010/main" val="2952183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4B51-C863-4BC7-9B85-60BC957AF2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CC8AE4-0592-4F5E-B405-D5888EFA9CF7}"/>
              </a:ext>
            </a:extLst>
          </p:cNvPr>
          <p:cNvSpPr>
            <a:spLocks noGrp="1"/>
          </p:cNvSpPr>
          <p:nvPr>
            <p:ph type="dt" sz="half" idx="10"/>
          </p:nvPr>
        </p:nvSpPr>
        <p:spPr/>
        <p:txBody>
          <a:bodyPr/>
          <a:lstStyle/>
          <a:p>
            <a:fld id="{CE1F8580-DA54-4C92-AE95-B0D402534DAC}" type="datetimeFigureOut">
              <a:rPr lang="en-IN" smtClean="0"/>
              <a:t>17-09-2026</a:t>
            </a:fld>
            <a:endParaRPr lang="en-IN"/>
          </a:p>
        </p:txBody>
      </p:sp>
      <p:sp>
        <p:nvSpPr>
          <p:cNvPr id="4" name="Footer Placeholder 3">
            <a:extLst>
              <a:ext uri="{FF2B5EF4-FFF2-40B4-BE49-F238E27FC236}">
                <a16:creationId xmlns:a16="http://schemas.microsoft.com/office/drawing/2014/main" id="{DB37768D-D9F2-48FD-99BB-1D1D48D7DD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276D3BD-C5E0-4771-9028-3F99B52CA5BF}"/>
              </a:ext>
            </a:extLst>
          </p:cNvPr>
          <p:cNvSpPr>
            <a:spLocks noGrp="1"/>
          </p:cNvSpPr>
          <p:nvPr>
            <p:ph type="sldNum" sz="quarter" idx="12"/>
          </p:nvPr>
        </p:nvSpPr>
        <p:spPr/>
        <p:txBody>
          <a:bodyPr/>
          <a:lstStyle/>
          <a:p>
            <a:fld id="{3D195D95-684F-4AAD-9BEA-B99F93FE3054}" type="slidenum">
              <a:rPr lang="en-IN" smtClean="0"/>
              <a:t>‹#›</a:t>
            </a:fld>
            <a:endParaRPr lang="en-IN"/>
          </a:p>
        </p:txBody>
      </p:sp>
    </p:spTree>
    <p:extLst>
      <p:ext uri="{BB962C8B-B14F-4D97-AF65-F5344CB8AC3E}">
        <p14:creationId xmlns:p14="http://schemas.microsoft.com/office/powerpoint/2010/main" val="2716358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8C855B-9E75-418A-A005-487CE6397718}"/>
              </a:ext>
            </a:extLst>
          </p:cNvPr>
          <p:cNvSpPr>
            <a:spLocks noGrp="1"/>
          </p:cNvSpPr>
          <p:nvPr>
            <p:ph type="dt" sz="half" idx="10"/>
          </p:nvPr>
        </p:nvSpPr>
        <p:spPr/>
        <p:txBody>
          <a:bodyPr/>
          <a:lstStyle/>
          <a:p>
            <a:fld id="{CE1F8580-DA54-4C92-AE95-B0D402534DAC}" type="datetimeFigureOut">
              <a:rPr lang="en-IN" smtClean="0"/>
              <a:t>17-09-2026</a:t>
            </a:fld>
            <a:endParaRPr lang="en-IN"/>
          </a:p>
        </p:txBody>
      </p:sp>
      <p:sp>
        <p:nvSpPr>
          <p:cNvPr id="3" name="Footer Placeholder 2">
            <a:extLst>
              <a:ext uri="{FF2B5EF4-FFF2-40B4-BE49-F238E27FC236}">
                <a16:creationId xmlns:a16="http://schemas.microsoft.com/office/drawing/2014/main" id="{2C911FC6-0F78-4C3E-B6C9-495481C163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8521E2A-ED7B-4F65-800B-7211DDE49D8A}"/>
              </a:ext>
            </a:extLst>
          </p:cNvPr>
          <p:cNvSpPr>
            <a:spLocks noGrp="1"/>
          </p:cNvSpPr>
          <p:nvPr>
            <p:ph type="sldNum" sz="quarter" idx="12"/>
          </p:nvPr>
        </p:nvSpPr>
        <p:spPr/>
        <p:txBody>
          <a:bodyPr/>
          <a:lstStyle/>
          <a:p>
            <a:fld id="{3D195D95-684F-4AAD-9BEA-B99F93FE3054}" type="slidenum">
              <a:rPr lang="en-IN" smtClean="0"/>
              <a:t>‹#›</a:t>
            </a:fld>
            <a:endParaRPr lang="en-IN"/>
          </a:p>
        </p:txBody>
      </p:sp>
    </p:spTree>
    <p:extLst>
      <p:ext uri="{BB962C8B-B14F-4D97-AF65-F5344CB8AC3E}">
        <p14:creationId xmlns:p14="http://schemas.microsoft.com/office/powerpoint/2010/main" val="3837118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55DC1-BF3F-47E0-A484-44C9CB87C2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7428051-62A3-4D1D-AAD6-FF2A00B838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DFF0806-B49D-41BD-84B2-937BC23A2A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35BAE7E-64CC-4AAE-81F6-72CE98393028}"/>
              </a:ext>
            </a:extLst>
          </p:cNvPr>
          <p:cNvSpPr>
            <a:spLocks noGrp="1"/>
          </p:cNvSpPr>
          <p:nvPr>
            <p:ph type="dt" sz="half" idx="10"/>
          </p:nvPr>
        </p:nvSpPr>
        <p:spPr/>
        <p:txBody>
          <a:bodyPr/>
          <a:lstStyle/>
          <a:p>
            <a:fld id="{CE1F8580-DA54-4C92-AE95-B0D402534DAC}" type="datetimeFigureOut">
              <a:rPr lang="en-IN" smtClean="0"/>
              <a:t>17-09-2026</a:t>
            </a:fld>
            <a:endParaRPr lang="en-IN"/>
          </a:p>
        </p:txBody>
      </p:sp>
      <p:sp>
        <p:nvSpPr>
          <p:cNvPr id="6" name="Footer Placeholder 5">
            <a:extLst>
              <a:ext uri="{FF2B5EF4-FFF2-40B4-BE49-F238E27FC236}">
                <a16:creationId xmlns:a16="http://schemas.microsoft.com/office/drawing/2014/main" id="{324C594E-999D-4B8A-BF33-EDBCCFCBD2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9EDFAB-1D8C-4F3F-85CB-4A6C3FB323F8}"/>
              </a:ext>
            </a:extLst>
          </p:cNvPr>
          <p:cNvSpPr>
            <a:spLocks noGrp="1"/>
          </p:cNvSpPr>
          <p:nvPr>
            <p:ph type="sldNum" sz="quarter" idx="12"/>
          </p:nvPr>
        </p:nvSpPr>
        <p:spPr/>
        <p:txBody>
          <a:bodyPr/>
          <a:lstStyle/>
          <a:p>
            <a:fld id="{3D195D95-684F-4AAD-9BEA-B99F93FE3054}" type="slidenum">
              <a:rPr lang="en-IN" smtClean="0"/>
              <a:t>‹#›</a:t>
            </a:fld>
            <a:endParaRPr lang="en-IN"/>
          </a:p>
        </p:txBody>
      </p:sp>
    </p:spTree>
    <p:extLst>
      <p:ext uri="{BB962C8B-B14F-4D97-AF65-F5344CB8AC3E}">
        <p14:creationId xmlns:p14="http://schemas.microsoft.com/office/powerpoint/2010/main" val="2846247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416C8-56EE-4EA8-A5EC-BCCD272A69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5490558-666E-4C5D-B93A-445B219D51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6725860-2D96-426F-BD57-AF417B1CAE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607C073-9C9B-415D-BB19-21F682C77929}"/>
              </a:ext>
            </a:extLst>
          </p:cNvPr>
          <p:cNvSpPr>
            <a:spLocks noGrp="1"/>
          </p:cNvSpPr>
          <p:nvPr>
            <p:ph type="dt" sz="half" idx="10"/>
          </p:nvPr>
        </p:nvSpPr>
        <p:spPr/>
        <p:txBody>
          <a:bodyPr/>
          <a:lstStyle/>
          <a:p>
            <a:fld id="{CE1F8580-DA54-4C92-AE95-B0D402534DAC}" type="datetimeFigureOut">
              <a:rPr lang="en-IN" smtClean="0"/>
              <a:t>17-09-2026</a:t>
            </a:fld>
            <a:endParaRPr lang="en-IN"/>
          </a:p>
        </p:txBody>
      </p:sp>
      <p:sp>
        <p:nvSpPr>
          <p:cNvPr id="6" name="Footer Placeholder 5">
            <a:extLst>
              <a:ext uri="{FF2B5EF4-FFF2-40B4-BE49-F238E27FC236}">
                <a16:creationId xmlns:a16="http://schemas.microsoft.com/office/drawing/2014/main" id="{3585F606-0411-4DBB-98BF-3BDF95AA89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DFDE5D-3F6D-4DD1-A5DF-8B5A68355B9D}"/>
              </a:ext>
            </a:extLst>
          </p:cNvPr>
          <p:cNvSpPr>
            <a:spLocks noGrp="1"/>
          </p:cNvSpPr>
          <p:nvPr>
            <p:ph type="sldNum" sz="quarter" idx="12"/>
          </p:nvPr>
        </p:nvSpPr>
        <p:spPr/>
        <p:txBody>
          <a:bodyPr/>
          <a:lstStyle/>
          <a:p>
            <a:fld id="{3D195D95-684F-4AAD-9BEA-B99F93FE3054}" type="slidenum">
              <a:rPr lang="en-IN" smtClean="0"/>
              <a:t>‹#›</a:t>
            </a:fld>
            <a:endParaRPr lang="en-IN"/>
          </a:p>
        </p:txBody>
      </p:sp>
    </p:spTree>
    <p:extLst>
      <p:ext uri="{BB962C8B-B14F-4D97-AF65-F5344CB8AC3E}">
        <p14:creationId xmlns:p14="http://schemas.microsoft.com/office/powerpoint/2010/main" val="3725806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C8A21-947C-496D-A280-4F17AAE8CD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A4AA9A-1B03-4CB8-A5FF-C05AC77579A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7CBEFF-4277-4D9F-AAEF-1EC5BC9DA738}"/>
              </a:ext>
            </a:extLst>
          </p:cNvPr>
          <p:cNvSpPr>
            <a:spLocks noGrp="1"/>
          </p:cNvSpPr>
          <p:nvPr>
            <p:ph type="dt" sz="half" idx="10"/>
          </p:nvPr>
        </p:nvSpPr>
        <p:spPr/>
        <p:txBody>
          <a:bodyPr/>
          <a:lstStyle/>
          <a:p>
            <a:fld id="{CE1F8580-DA54-4C92-AE95-B0D402534DAC}" type="datetimeFigureOut">
              <a:rPr lang="en-IN" smtClean="0"/>
              <a:t>17-09-2026</a:t>
            </a:fld>
            <a:endParaRPr lang="en-IN"/>
          </a:p>
        </p:txBody>
      </p:sp>
      <p:sp>
        <p:nvSpPr>
          <p:cNvPr id="5" name="Footer Placeholder 4">
            <a:extLst>
              <a:ext uri="{FF2B5EF4-FFF2-40B4-BE49-F238E27FC236}">
                <a16:creationId xmlns:a16="http://schemas.microsoft.com/office/drawing/2014/main" id="{481D9630-DD0E-40BA-A745-96CD6F75AB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6DF844-CA7E-4F41-BF6A-F1E8C9EB0CA3}"/>
              </a:ext>
            </a:extLst>
          </p:cNvPr>
          <p:cNvSpPr>
            <a:spLocks noGrp="1"/>
          </p:cNvSpPr>
          <p:nvPr>
            <p:ph type="sldNum" sz="quarter" idx="12"/>
          </p:nvPr>
        </p:nvSpPr>
        <p:spPr/>
        <p:txBody>
          <a:bodyPr/>
          <a:lstStyle/>
          <a:p>
            <a:fld id="{3D195D95-684F-4AAD-9BEA-B99F93FE3054}" type="slidenum">
              <a:rPr lang="en-IN" smtClean="0"/>
              <a:t>‹#›</a:t>
            </a:fld>
            <a:endParaRPr lang="en-IN"/>
          </a:p>
        </p:txBody>
      </p:sp>
    </p:spTree>
    <p:extLst>
      <p:ext uri="{BB962C8B-B14F-4D97-AF65-F5344CB8AC3E}">
        <p14:creationId xmlns:p14="http://schemas.microsoft.com/office/powerpoint/2010/main" val="3601412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70091D-DC3C-4DF1-BEC3-A451245C331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ABCB286-6C0C-4846-9476-44FC680DEFD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00797F-14FC-4DE3-B2BC-7A60813CBC6E}"/>
              </a:ext>
            </a:extLst>
          </p:cNvPr>
          <p:cNvSpPr>
            <a:spLocks noGrp="1"/>
          </p:cNvSpPr>
          <p:nvPr>
            <p:ph type="dt" sz="half" idx="10"/>
          </p:nvPr>
        </p:nvSpPr>
        <p:spPr/>
        <p:txBody>
          <a:bodyPr/>
          <a:lstStyle/>
          <a:p>
            <a:fld id="{CE1F8580-DA54-4C92-AE95-B0D402534DAC}" type="datetimeFigureOut">
              <a:rPr lang="en-IN" smtClean="0"/>
              <a:t>17-09-2026</a:t>
            </a:fld>
            <a:endParaRPr lang="en-IN"/>
          </a:p>
        </p:txBody>
      </p:sp>
      <p:sp>
        <p:nvSpPr>
          <p:cNvPr id="5" name="Footer Placeholder 4">
            <a:extLst>
              <a:ext uri="{FF2B5EF4-FFF2-40B4-BE49-F238E27FC236}">
                <a16:creationId xmlns:a16="http://schemas.microsoft.com/office/drawing/2014/main" id="{52BBF54F-A4D4-44CF-8847-AB3FA9B4B2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0512F4-0C82-44FB-BBE3-74841631B7BE}"/>
              </a:ext>
            </a:extLst>
          </p:cNvPr>
          <p:cNvSpPr>
            <a:spLocks noGrp="1"/>
          </p:cNvSpPr>
          <p:nvPr>
            <p:ph type="sldNum" sz="quarter" idx="12"/>
          </p:nvPr>
        </p:nvSpPr>
        <p:spPr/>
        <p:txBody>
          <a:bodyPr/>
          <a:lstStyle/>
          <a:p>
            <a:fld id="{3D195D95-684F-4AAD-9BEA-B99F93FE3054}" type="slidenum">
              <a:rPr lang="en-IN" smtClean="0"/>
              <a:t>‹#›</a:t>
            </a:fld>
            <a:endParaRPr lang="en-IN"/>
          </a:p>
        </p:txBody>
      </p:sp>
    </p:spTree>
    <p:extLst>
      <p:ext uri="{BB962C8B-B14F-4D97-AF65-F5344CB8AC3E}">
        <p14:creationId xmlns:p14="http://schemas.microsoft.com/office/powerpoint/2010/main" val="2996230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6C7ADC-E063-4AAC-928B-BE717B5920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87820E-A6D8-433A-BC50-EE94180523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86AF09-88C2-4EDA-AEB0-38A61E00F7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1F8580-DA54-4C92-AE95-B0D402534DAC}" type="datetimeFigureOut">
              <a:rPr lang="en-IN" smtClean="0"/>
              <a:t>17-09-2026</a:t>
            </a:fld>
            <a:endParaRPr lang="en-IN"/>
          </a:p>
        </p:txBody>
      </p:sp>
      <p:sp>
        <p:nvSpPr>
          <p:cNvPr id="5" name="Footer Placeholder 4">
            <a:extLst>
              <a:ext uri="{FF2B5EF4-FFF2-40B4-BE49-F238E27FC236}">
                <a16:creationId xmlns:a16="http://schemas.microsoft.com/office/drawing/2014/main" id="{B17E3AED-252D-4291-8F74-6D505D36BE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96DB3E6-A989-47B9-9D65-C045A7DD37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195D95-684F-4AAD-9BEA-B99F93FE3054}" type="slidenum">
              <a:rPr lang="en-IN" smtClean="0"/>
              <a:t>‹#›</a:t>
            </a:fld>
            <a:endParaRPr lang="en-IN"/>
          </a:p>
        </p:txBody>
      </p:sp>
    </p:spTree>
    <p:extLst>
      <p:ext uri="{BB962C8B-B14F-4D97-AF65-F5344CB8AC3E}">
        <p14:creationId xmlns:p14="http://schemas.microsoft.com/office/powerpoint/2010/main" val="3500879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app.notion.com/ai"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scribbr.com/text-summarizer/"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scribbr.com/humanize-ai/"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synthesia.io/"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notegpt.io/youtube-video-summarizer"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aiven.io/tools/text-to-sql"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www.wolframalpha.com/"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www.symbolab.com/"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suno.com/"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mubert.com/"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A6862-131C-4C78-9C9D-6D7A40EBC1D4}"/>
              </a:ext>
            </a:extLst>
          </p:cNvPr>
          <p:cNvSpPr>
            <a:spLocks noGrp="1"/>
          </p:cNvSpPr>
          <p:nvPr>
            <p:ph type="ctrTitle"/>
          </p:nvPr>
        </p:nvSpPr>
        <p:spPr>
          <a:xfrm>
            <a:off x="1524000" y="2235200"/>
            <a:ext cx="9144000" cy="2387600"/>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r>
              <a:rPr lang="en-US" dirty="0"/>
              <a:t>AI – TOOLS </a:t>
            </a:r>
            <a:br>
              <a:rPr lang="en-US" dirty="0"/>
            </a:br>
            <a:r>
              <a:rPr lang="en-US" dirty="0"/>
              <a:t>&amp;</a:t>
            </a:r>
            <a:br>
              <a:rPr lang="en-US" dirty="0"/>
            </a:br>
            <a:r>
              <a:rPr lang="en-US" dirty="0"/>
              <a:t>EFFECTIVE PROMPT PRACTICES</a:t>
            </a:r>
            <a:endParaRPr lang="en-IN" dirty="0"/>
          </a:p>
        </p:txBody>
      </p:sp>
    </p:spTree>
    <p:extLst>
      <p:ext uri="{BB962C8B-B14F-4D97-AF65-F5344CB8AC3E}">
        <p14:creationId xmlns:p14="http://schemas.microsoft.com/office/powerpoint/2010/main" val="3642573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98975-A28F-4076-97DA-3AC458EE6F8B}"/>
              </a:ext>
            </a:extLst>
          </p:cNvPr>
          <p:cNvSpPr>
            <a:spLocks noGrp="1"/>
          </p:cNvSpPr>
          <p:nvPr>
            <p:ph type="title"/>
          </p:nvPr>
        </p:nvSpPr>
        <p:spPr/>
        <p:txBody>
          <a:bodyPr/>
          <a:lstStyle/>
          <a:p>
            <a:r>
              <a:rPr lang="en-US" dirty="0"/>
              <a:t>Prompt </a:t>
            </a:r>
            <a:r>
              <a:rPr lang="en-US" dirty="0" err="1"/>
              <a:t>comparision</a:t>
            </a:r>
            <a:r>
              <a:rPr lang="en-US" dirty="0"/>
              <a:t> </a:t>
            </a:r>
            <a:br>
              <a:rPr lang="en-US" dirty="0"/>
            </a:br>
            <a:r>
              <a:rPr lang="en-US" dirty="0"/>
              <a:t>GPT/Gemini/Claude</a:t>
            </a:r>
            <a:endParaRPr lang="en-IN" dirty="0"/>
          </a:p>
        </p:txBody>
      </p:sp>
      <p:sp>
        <p:nvSpPr>
          <p:cNvPr id="3" name="Content Placeholder 2">
            <a:extLst>
              <a:ext uri="{FF2B5EF4-FFF2-40B4-BE49-F238E27FC236}">
                <a16:creationId xmlns:a16="http://schemas.microsoft.com/office/drawing/2014/main" id="{4B956B38-AB76-48F2-AD75-A980B6108C42}"/>
              </a:ext>
            </a:extLst>
          </p:cNvPr>
          <p:cNvSpPr>
            <a:spLocks noGrp="1"/>
          </p:cNvSpPr>
          <p:nvPr>
            <p:ph idx="1"/>
          </p:nvPr>
        </p:nvSpPr>
        <p:spPr/>
        <p:txBody>
          <a:bodyPr/>
          <a:lstStyle/>
          <a:p>
            <a:r>
              <a:rPr lang="en-US" b="1" dirty="0"/>
              <a:t>Explain climate change</a:t>
            </a:r>
          </a:p>
          <a:p>
            <a:endParaRPr lang="en-US" b="1" dirty="0"/>
          </a:p>
          <a:p>
            <a:r>
              <a:rPr lang="en-US" b="1" dirty="0"/>
              <a:t>Analyze</a:t>
            </a:r>
          </a:p>
          <a:p>
            <a:r>
              <a:rPr lang="en-US" dirty="0"/>
              <a:t>Which answer is easiest to understand? </a:t>
            </a:r>
          </a:p>
          <a:p>
            <a:r>
              <a:rPr lang="en-US" dirty="0"/>
              <a:t>Which gives the best structure? </a:t>
            </a:r>
          </a:p>
          <a:p>
            <a:r>
              <a:rPr lang="en-US" dirty="0"/>
              <a:t>Which uses examples? </a:t>
            </a:r>
          </a:p>
          <a:p>
            <a:r>
              <a:rPr lang="en-US" dirty="0"/>
              <a:t>Which answer is too long?</a:t>
            </a:r>
          </a:p>
          <a:p>
            <a:endParaRPr lang="en-IN" dirty="0"/>
          </a:p>
        </p:txBody>
      </p:sp>
    </p:spTree>
    <p:extLst>
      <p:ext uri="{BB962C8B-B14F-4D97-AF65-F5344CB8AC3E}">
        <p14:creationId xmlns:p14="http://schemas.microsoft.com/office/powerpoint/2010/main" val="4127288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BE761-B942-433E-8FBE-16F804C38CD8}"/>
              </a:ext>
            </a:extLst>
          </p:cNvPr>
          <p:cNvSpPr>
            <a:spLocks noGrp="1"/>
          </p:cNvSpPr>
          <p:nvPr>
            <p:ph type="title"/>
          </p:nvPr>
        </p:nvSpPr>
        <p:spPr/>
        <p:txBody>
          <a:bodyPr/>
          <a:lstStyle/>
          <a:p>
            <a:r>
              <a:rPr lang="en-US" dirty="0" err="1"/>
              <a:t>gpt</a:t>
            </a:r>
            <a:endParaRPr lang="en-IN" dirty="0"/>
          </a:p>
        </p:txBody>
      </p:sp>
      <p:sp>
        <p:nvSpPr>
          <p:cNvPr id="3" name="Content Placeholder 2">
            <a:extLst>
              <a:ext uri="{FF2B5EF4-FFF2-40B4-BE49-F238E27FC236}">
                <a16:creationId xmlns:a16="http://schemas.microsoft.com/office/drawing/2014/main" id="{8B138C58-7B55-41B9-A326-C952BB496D39}"/>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E1094947-EC94-4C22-A068-68840919B2E9}"/>
              </a:ext>
            </a:extLst>
          </p:cNvPr>
          <p:cNvPicPr>
            <a:picLocks noChangeAspect="1"/>
          </p:cNvPicPr>
          <p:nvPr/>
        </p:nvPicPr>
        <p:blipFill>
          <a:blip r:embed="rId2"/>
          <a:stretch>
            <a:fillRect/>
          </a:stretch>
        </p:blipFill>
        <p:spPr>
          <a:xfrm>
            <a:off x="1313818" y="1750558"/>
            <a:ext cx="8423184" cy="4633913"/>
          </a:xfrm>
          <a:prstGeom prst="rect">
            <a:avLst/>
          </a:prstGeom>
        </p:spPr>
      </p:pic>
    </p:spTree>
    <p:extLst>
      <p:ext uri="{BB962C8B-B14F-4D97-AF65-F5344CB8AC3E}">
        <p14:creationId xmlns:p14="http://schemas.microsoft.com/office/powerpoint/2010/main" val="2052704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C4583-D26C-4E2D-AB7A-A78EBD32D76E}"/>
              </a:ext>
            </a:extLst>
          </p:cNvPr>
          <p:cNvSpPr>
            <a:spLocks noGrp="1"/>
          </p:cNvSpPr>
          <p:nvPr>
            <p:ph type="title"/>
          </p:nvPr>
        </p:nvSpPr>
        <p:spPr/>
        <p:txBody>
          <a:bodyPr/>
          <a:lstStyle/>
          <a:p>
            <a:r>
              <a:rPr lang="en-US" dirty="0" err="1"/>
              <a:t>gemini</a:t>
            </a:r>
            <a:endParaRPr lang="en-IN" dirty="0"/>
          </a:p>
        </p:txBody>
      </p:sp>
      <p:pic>
        <p:nvPicPr>
          <p:cNvPr id="4" name="Content Placeholder 3">
            <a:extLst>
              <a:ext uri="{FF2B5EF4-FFF2-40B4-BE49-F238E27FC236}">
                <a16:creationId xmlns:a16="http://schemas.microsoft.com/office/drawing/2014/main" id="{F6B33207-1039-42A2-9A6A-BE983B115E0C}"/>
              </a:ext>
            </a:extLst>
          </p:cNvPr>
          <p:cNvPicPr>
            <a:picLocks noGrp="1" noChangeAspect="1"/>
          </p:cNvPicPr>
          <p:nvPr>
            <p:ph idx="1"/>
          </p:nvPr>
        </p:nvPicPr>
        <p:blipFill>
          <a:blip r:embed="rId2"/>
          <a:stretch>
            <a:fillRect/>
          </a:stretch>
        </p:blipFill>
        <p:spPr>
          <a:xfrm>
            <a:off x="2711276" y="2121597"/>
            <a:ext cx="6769448" cy="3759393"/>
          </a:xfrm>
          <a:prstGeom prst="rect">
            <a:avLst/>
          </a:prstGeom>
        </p:spPr>
      </p:pic>
    </p:spTree>
    <p:extLst>
      <p:ext uri="{BB962C8B-B14F-4D97-AF65-F5344CB8AC3E}">
        <p14:creationId xmlns:p14="http://schemas.microsoft.com/office/powerpoint/2010/main" val="1171689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71016-B89B-43D9-AF5B-D939F3D3BB9F}"/>
              </a:ext>
            </a:extLst>
          </p:cNvPr>
          <p:cNvSpPr>
            <a:spLocks noGrp="1"/>
          </p:cNvSpPr>
          <p:nvPr>
            <p:ph type="title"/>
          </p:nvPr>
        </p:nvSpPr>
        <p:spPr/>
        <p:txBody>
          <a:bodyPr/>
          <a:lstStyle/>
          <a:p>
            <a:r>
              <a:rPr lang="en-US" dirty="0" err="1"/>
              <a:t>claude</a:t>
            </a:r>
            <a:endParaRPr lang="en-IN" dirty="0"/>
          </a:p>
        </p:txBody>
      </p:sp>
      <p:pic>
        <p:nvPicPr>
          <p:cNvPr id="4" name="Content Placeholder 3">
            <a:extLst>
              <a:ext uri="{FF2B5EF4-FFF2-40B4-BE49-F238E27FC236}">
                <a16:creationId xmlns:a16="http://schemas.microsoft.com/office/drawing/2014/main" id="{978A243F-490D-4150-9C3B-77A90B68374C}"/>
              </a:ext>
            </a:extLst>
          </p:cNvPr>
          <p:cNvPicPr>
            <a:picLocks noGrp="1" noChangeAspect="1"/>
          </p:cNvPicPr>
          <p:nvPr>
            <p:ph idx="1"/>
          </p:nvPr>
        </p:nvPicPr>
        <p:blipFill>
          <a:blip r:embed="rId2"/>
          <a:stretch>
            <a:fillRect/>
          </a:stretch>
        </p:blipFill>
        <p:spPr>
          <a:xfrm>
            <a:off x="2339782" y="1921562"/>
            <a:ext cx="7512436" cy="4159464"/>
          </a:xfrm>
          <a:prstGeom prst="rect">
            <a:avLst/>
          </a:prstGeom>
        </p:spPr>
      </p:pic>
    </p:spTree>
    <p:extLst>
      <p:ext uri="{BB962C8B-B14F-4D97-AF65-F5344CB8AC3E}">
        <p14:creationId xmlns:p14="http://schemas.microsoft.com/office/powerpoint/2010/main" val="1130500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654E-B657-4209-9ACD-CA747048E17A}"/>
              </a:ext>
            </a:extLst>
          </p:cNvPr>
          <p:cNvSpPr>
            <a:spLocks noGrp="1"/>
          </p:cNvSpPr>
          <p:nvPr>
            <p:ph type="title"/>
          </p:nvPr>
        </p:nvSpPr>
        <p:spPr/>
        <p:txBody>
          <a:bodyPr/>
          <a:lstStyle/>
          <a:p>
            <a:r>
              <a:rPr lang="en-IN" dirty="0"/>
              <a:t>Prompt Anatomy </a:t>
            </a:r>
          </a:p>
        </p:txBody>
      </p:sp>
      <p:sp>
        <p:nvSpPr>
          <p:cNvPr id="3" name="Content Placeholder 2">
            <a:extLst>
              <a:ext uri="{FF2B5EF4-FFF2-40B4-BE49-F238E27FC236}">
                <a16:creationId xmlns:a16="http://schemas.microsoft.com/office/drawing/2014/main" id="{BC3EF2C7-1B46-4D34-8E95-1BF1A31DE0D3}"/>
              </a:ext>
            </a:extLst>
          </p:cNvPr>
          <p:cNvSpPr>
            <a:spLocks noGrp="1"/>
          </p:cNvSpPr>
          <p:nvPr>
            <p:ph idx="1"/>
          </p:nvPr>
        </p:nvSpPr>
        <p:spPr/>
        <p:txBody>
          <a:bodyPr/>
          <a:lstStyle/>
          <a:p>
            <a:r>
              <a:rPr lang="en-IN" dirty="0"/>
              <a:t>Role + Task + Context + Constraints + Output Format + Examples</a:t>
            </a:r>
          </a:p>
          <a:p>
            <a:endParaRPr lang="en-IN" dirty="0"/>
          </a:p>
        </p:txBody>
      </p:sp>
      <p:pic>
        <p:nvPicPr>
          <p:cNvPr id="4" name="Picture 3">
            <a:extLst>
              <a:ext uri="{FF2B5EF4-FFF2-40B4-BE49-F238E27FC236}">
                <a16:creationId xmlns:a16="http://schemas.microsoft.com/office/drawing/2014/main" id="{2DAE5944-DFFA-413F-8453-C31646A1B9A4}"/>
              </a:ext>
            </a:extLst>
          </p:cNvPr>
          <p:cNvPicPr>
            <a:picLocks noChangeAspect="1"/>
          </p:cNvPicPr>
          <p:nvPr/>
        </p:nvPicPr>
        <p:blipFill>
          <a:blip r:embed="rId2"/>
          <a:stretch>
            <a:fillRect/>
          </a:stretch>
        </p:blipFill>
        <p:spPr>
          <a:xfrm>
            <a:off x="2946221" y="2488223"/>
            <a:ext cx="5332365" cy="4168940"/>
          </a:xfrm>
          <a:prstGeom prst="rect">
            <a:avLst/>
          </a:prstGeom>
        </p:spPr>
      </p:pic>
    </p:spTree>
    <p:extLst>
      <p:ext uri="{BB962C8B-B14F-4D97-AF65-F5344CB8AC3E}">
        <p14:creationId xmlns:p14="http://schemas.microsoft.com/office/powerpoint/2010/main" val="1446688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01929-5611-4504-9D2B-3C16F98115F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E97230-FD8B-465E-9AD0-1D9B4AA32E1F}"/>
              </a:ext>
            </a:extLst>
          </p:cNvPr>
          <p:cNvSpPr>
            <a:spLocks noGrp="1"/>
          </p:cNvSpPr>
          <p:nvPr>
            <p:ph idx="1"/>
          </p:nvPr>
        </p:nvSpPr>
        <p:spPr/>
        <p:txBody>
          <a:bodyPr/>
          <a:lstStyle/>
          <a:p>
            <a:r>
              <a:rPr lang="en-US" b="1" dirty="0"/>
              <a:t>what is </a:t>
            </a:r>
            <a:r>
              <a:rPr lang="en-US" b="1" dirty="0" err="1"/>
              <a:t>NotebookLM</a:t>
            </a:r>
            <a:r>
              <a:rPr lang="en-US" b="1" dirty="0"/>
              <a:t>?</a:t>
            </a:r>
          </a:p>
          <a:p>
            <a:r>
              <a:rPr lang="en-US" b="1" dirty="0" err="1"/>
              <a:t>NotebookLM</a:t>
            </a:r>
            <a:r>
              <a:rPr lang="en-US" dirty="0"/>
              <a:t> is Google's AI research and learning assistant. </a:t>
            </a:r>
          </a:p>
          <a:p>
            <a:r>
              <a:rPr lang="en-US" dirty="0"/>
              <a:t>Instead of asking an AI to answer only from its general knowledge, you can provide your own sources—such as PDFs, documents, websites, slides, or other supported materials—and ask questions about those sources.</a:t>
            </a:r>
          </a:p>
          <a:p>
            <a:endParaRPr lang="en-IN" dirty="0"/>
          </a:p>
        </p:txBody>
      </p:sp>
    </p:spTree>
    <p:extLst>
      <p:ext uri="{BB962C8B-B14F-4D97-AF65-F5344CB8AC3E}">
        <p14:creationId xmlns:p14="http://schemas.microsoft.com/office/powerpoint/2010/main" val="382719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AFA86-7CE9-47BE-A038-0D82B93E44CF}"/>
              </a:ext>
            </a:extLst>
          </p:cNvPr>
          <p:cNvSpPr>
            <a:spLocks noGrp="1"/>
          </p:cNvSpPr>
          <p:nvPr>
            <p:ph type="title"/>
          </p:nvPr>
        </p:nvSpPr>
        <p:spPr/>
        <p:txBody>
          <a:bodyPr/>
          <a:lstStyle/>
          <a:p>
            <a:r>
              <a:rPr lang="en-US" dirty="0"/>
              <a:t>Note Book LM - google</a:t>
            </a:r>
            <a:endParaRPr lang="en-IN" dirty="0"/>
          </a:p>
        </p:txBody>
      </p:sp>
      <p:pic>
        <p:nvPicPr>
          <p:cNvPr id="4" name="Content Placeholder 3">
            <a:extLst>
              <a:ext uri="{FF2B5EF4-FFF2-40B4-BE49-F238E27FC236}">
                <a16:creationId xmlns:a16="http://schemas.microsoft.com/office/drawing/2014/main" id="{12EE5AED-3B16-4805-BE10-E6C6936FF0A7}"/>
              </a:ext>
            </a:extLst>
          </p:cNvPr>
          <p:cNvPicPr>
            <a:picLocks noGrp="1" noChangeAspect="1"/>
          </p:cNvPicPr>
          <p:nvPr>
            <p:ph idx="1"/>
          </p:nvPr>
        </p:nvPicPr>
        <p:blipFill>
          <a:blip r:embed="rId2"/>
          <a:stretch>
            <a:fillRect/>
          </a:stretch>
        </p:blipFill>
        <p:spPr>
          <a:xfrm>
            <a:off x="1185123" y="1825625"/>
            <a:ext cx="9821753" cy="4351338"/>
          </a:xfrm>
          <a:prstGeom prst="rect">
            <a:avLst/>
          </a:prstGeom>
        </p:spPr>
      </p:pic>
    </p:spTree>
    <p:extLst>
      <p:ext uri="{BB962C8B-B14F-4D97-AF65-F5344CB8AC3E}">
        <p14:creationId xmlns:p14="http://schemas.microsoft.com/office/powerpoint/2010/main" val="503004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EDB23-9AC7-4325-BCC1-ABD15C95C205}"/>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E6A2D946-6778-403F-B8D8-94DC466EA18B}"/>
              </a:ext>
            </a:extLst>
          </p:cNvPr>
          <p:cNvPicPr>
            <a:picLocks noGrp="1" noChangeAspect="1"/>
          </p:cNvPicPr>
          <p:nvPr>
            <p:ph idx="1"/>
          </p:nvPr>
        </p:nvPicPr>
        <p:blipFill>
          <a:blip r:embed="rId2"/>
          <a:stretch>
            <a:fillRect/>
          </a:stretch>
        </p:blipFill>
        <p:spPr>
          <a:xfrm>
            <a:off x="1142374" y="1825625"/>
            <a:ext cx="9907252" cy="4351338"/>
          </a:xfrm>
          <a:prstGeom prst="rect">
            <a:avLst/>
          </a:prstGeom>
        </p:spPr>
      </p:pic>
    </p:spTree>
    <p:extLst>
      <p:ext uri="{BB962C8B-B14F-4D97-AF65-F5344CB8AC3E}">
        <p14:creationId xmlns:p14="http://schemas.microsoft.com/office/powerpoint/2010/main" val="1978363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C2DF0-6CCE-4E39-B5DD-F9C3DFE7751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390A02-79D9-4F0C-8598-E65C07370EB0}"/>
              </a:ext>
            </a:extLst>
          </p:cNvPr>
          <p:cNvSpPr>
            <a:spLocks noGrp="1"/>
          </p:cNvSpPr>
          <p:nvPr>
            <p:ph idx="1"/>
          </p:nvPr>
        </p:nvSpPr>
        <p:spPr/>
        <p:txBody>
          <a:bodyPr/>
          <a:lstStyle/>
          <a:p>
            <a:r>
              <a:rPr lang="en-IN" dirty="0"/>
              <a:t>Add your sources.</a:t>
            </a:r>
          </a:p>
          <a:p>
            <a:r>
              <a:rPr lang="en-IN" dirty="0"/>
              <a:t>For example:</a:t>
            </a:r>
          </a:p>
          <a:p>
            <a:r>
              <a:rPr lang="en-US" dirty="0"/>
              <a:t>H</a:t>
            </a:r>
            <a:r>
              <a:rPr lang="en-IN" dirty="0" err="1"/>
              <a:t>ealth</a:t>
            </a:r>
            <a:r>
              <a:rPr lang="en-IN" dirty="0"/>
              <a:t> care documents</a:t>
            </a:r>
          </a:p>
        </p:txBody>
      </p:sp>
    </p:spTree>
    <p:extLst>
      <p:ext uri="{BB962C8B-B14F-4D97-AF65-F5344CB8AC3E}">
        <p14:creationId xmlns:p14="http://schemas.microsoft.com/office/powerpoint/2010/main" val="2599732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388C3-E816-4FED-849F-75E94E36603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C716EC7-AA87-436D-88CA-B740C58F6F11}"/>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4574623C-9784-4629-806D-39C5C93E1F29}"/>
              </a:ext>
            </a:extLst>
          </p:cNvPr>
          <p:cNvPicPr>
            <a:picLocks noChangeAspect="1"/>
          </p:cNvPicPr>
          <p:nvPr/>
        </p:nvPicPr>
        <p:blipFill>
          <a:blip r:embed="rId2"/>
          <a:stretch>
            <a:fillRect/>
          </a:stretch>
        </p:blipFill>
        <p:spPr>
          <a:xfrm>
            <a:off x="1037965" y="863468"/>
            <a:ext cx="10116070" cy="5131064"/>
          </a:xfrm>
          <a:prstGeom prst="rect">
            <a:avLst/>
          </a:prstGeom>
        </p:spPr>
      </p:pic>
    </p:spTree>
    <p:extLst>
      <p:ext uri="{BB962C8B-B14F-4D97-AF65-F5344CB8AC3E}">
        <p14:creationId xmlns:p14="http://schemas.microsoft.com/office/powerpoint/2010/main" val="2398904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E35F7-5503-4AA3-8F23-BD354B80DF0A}"/>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3C814E4B-584B-4B10-8063-8A98F29FDBD8}"/>
              </a:ext>
            </a:extLst>
          </p:cNvPr>
          <p:cNvPicPr>
            <a:picLocks noGrp="1" noChangeAspect="1"/>
          </p:cNvPicPr>
          <p:nvPr>
            <p:ph idx="1"/>
          </p:nvPr>
        </p:nvPicPr>
        <p:blipFill>
          <a:blip r:embed="rId2"/>
          <a:stretch>
            <a:fillRect/>
          </a:stretch>
        </p:blipFill>
        <p:spPr>
          <a:xfrm>
            <a:off x="2130878" y="1526959"/>
            <a:ext cx="7666265" cy="4318661"/>
          </a:xfrm>
          <a:prstGeom prst="rect">
            <a:avLst/>
          </a:prstGeom>
        </p:spPr>
      </p:pic>
    </p:spTree>
    <p:extLst>
      <p:ext uri="{BB962C8B-B14F-4D97-AF65-F5344CB8AC3E}">
        <p14:creationId xmlns:p14="http://schemas.microsoft.com/office/powerpoint/2010/main" val="1714759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10B65-0B9A-4573-B0A5-9E2510031D65}"/>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BE8063C1-6741-4978-998A-E34E04896CE6}"/>
              </a:ext>
            </a:extLst>
          </p:cNvPr>
          <p:cNvPicPr>
            <a:picLocks noGrp="1" noChangeAspect="1"/>
          </p:cNvPicPr>
          <p:nvPr>
            <p:ph idx="1"/>
          </p:nvPr>
        </p:nvPicPr>
        <p:blipFill>
          <a:blip r:embed="rId2"/>
          <a:stretch>
            <a:fillRect/>
          </a:stretch>
        </p:blipFill>
        <p:spPr>
          <a:xfrm>
            <a:off x="2871874" y="1917490"/>
            <a:ext cx="5435879" cy="3759393"/>
          </a:xfrm>
          <a:prstGeom prst="rect">
            <a:avLst/>
          </a:prstGeom>
        </p:spPr>
      </p:pic>
    </p:spTree>
    <p:extLst>
      <p:ext uri="{BB962C8B-B14F-4D97-AF65-F5344CB8AC3E}">
        <p14:creationId xmlns:p14="http://schemas.microsoft.com/office/powerpoint/2010/main" val="20350487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13D91-FB8B-4F1E-B4CD-2C7C6E7BD2C6}"/>
              </a:ext>
            </a:extLst>
          </p:cNvPr>
          <p:cNvSpPr>
            <a:spLocks noGrp="1"/>
          </p:cNvSpPr>
          <p:nvPr>
            <p:ph type="title"/>
          </p:nvPr>
        </p:nvSpPr>
        <p:spPr/>
        <p:txBody>
          <a:bodyPr/>
          <a:lstStyle/>
          <a:p>
            <a:r>
              <a:rPr lang="en-US" dirty="0"/>
              <a:t>Ask different questions</a:t>
            </a:r>
            <a:endParaRPr lang="en-IN" dirty="0"/>
          </a:p>
        </p:txBody>
      </p:sp>
      <p:sp>
        <p:nvSpPr>
          <p:cNvPr id="3" name="Content Placeholder 2">
            <a:extLst>
              <a:ext uri="{FF2B5EF4-FFF2-40B4-BE49-F238E27FC236}">
                <a16:creationId xmlns:a16="http://schemas.microsoft.com/office/drawing/2014/main" id="{F58D59D5-552B-479F-9FB5-17C43F9BAEAD}"/>
              </a:ext>
            </a:extLst>
          </p:cNvPr>
          <p:cNvSpPr>
            <a:spLocks noGrp="1"/>
          </p:cNvSpPr>
          <p:nvPr>
            <p:ph idx="1"/>
          </p:nvPr>
        </p:nvSpPr>
        <p:spPr/>
        <p:txBody>
          <a:bodyPr/>
          <a:lstStyle/>
          <a:p>
            <a:r>
              <a:rPr lang="en-US" dirty="0"/>
              <a:t>Teach me this document as if I am a beginner.</a:t>
            </a:r>
          </a:p>
          <a:p>
            <a:r>
              <a:rPr lang="en-US" dirty="0"/>
              <a:t>Explain each major concept using a simple real-world example.</a:t>
            </a:r>
          </a:p>
          <a:p>
            <a:r>
              <a:rPr lang="en-US" dirty="0"/>
              <a:t>Create 20 multiple-choice questions from this document.</a:t>
            </a:r>
          </a:p>
          <a:p>
            <a:r>
              <a:rPr lang="en-US" dirty="0"/>
              <a:t>Include four options and the correct answer.</a:t>
            </a:r>
          </a:p>
          <a:p>
            <a:endParaRPr lang="en-IN" dirty="0"/>
          </a:p>
        </p:txBody>
      </p:sp>
    </p:spTree>
    <p:extLst>
      <p:ext uri="{BB962C8B-B14F-4D97-AF65-F5344CB8AC3E}">
        <p14:creationId xmlns:p14="http://schemas.microsoft.com/office/powerpoint/2010/main" val="2623723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ADE49-5AF0-4BAA-80A2-90D7BB27D0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6E24097-829E-40BE-A922-F1DA79655407}"/>
              </a:ext>
            </a:extLst>
          </p:cNvPr>
          <p:cNvSpPr>
            <a:spLocks noGrp="1"/>
          </p:cNvSpPr>
          <p:nvPr>
            <p:ph idx="1"/>
          </p:nvPr>
        </p:nvSpPr>
        <p:spPr/>
        <p:txBody>
          <a:bodyPr>
            <a:normAutofit fontScale="77500" lnSpcReduction="20000"/>
          </a:bodyPr>
          <a:lstStyle/>
          <a:p>
            <a:r>
              <a:rPr lang="en-US" dirty="0"/>
              <a:t>Create a study guide from the uploaded material.</a:t>
            </a:r>
          </a:p>
          <a:p>
            <a:endParaRPr lang="en-US" dirty="0"/>
          </a:p>
          <a:p>
            <a:r>
              <a:rPr lang="en-US" dirty="0"/>
              <a:t>Include:</a:t>
            </a:r>
          </a:p>
          <a:p>
            <a:endParaRPr lang="en-US" dirty="0"/>
          </a:p>
          <a:p>
            <a:r>
              <a:rPr lang="en-US" dirty="0"/>
              <a:t>1. Important definitions</a:t>
            </a:r>
          </a:p>
          <a:p>
            <a:r>
              <a:rPr lang="en-US" dirty="0"/>
              <a:t>2. Key concepts</a:t>
            </a:r>
          </a:p>
          <a:p>
            <a:r>
              <a:rPr lang="en-US" dirty="0"/>
              <a:t>3. Important formulas</a:t>
            </a:r>
          </a:p>
          <a:p>
            <a:r>
              <a:rPr lang="en-US" dirty="0"/>
              <a:t>4. Real-world examples</a:t>
            </a:r>
          </a:p>
          <a:p>
            <a:r>
              <a:rPr lang="en-US" dirty="0"/>
              <a:t>5. Common mistakes</a:t>
            </a:r>
          </a:p>
          <a:p>
            <a:r>
              <a:rPr lang="en-US" dirty="0"/>
              <a:t>6. Frequently asked questions</a:t>
            </a:r>
          </a:p>
          <a:p>
            <a:r>
              <a:rPr lang="en-US" dirty="0"/>
              <a:t>7. Examination questions</a:t>
            </a:r>
          </a:p>
          <a:p>
            <a:r>
              <a:rPr lang="en-US" dirty="0"/>
              <a:t>8. Quick revision points</a:t>
            </a:r>
            <a:endParaRPr lang="en-IN" dirty="0"/>
          </a:p>
        </p:txBody>
      </p:sp>
    </p:spTree>
    <p:extLst>
      <p:ext uri="{BB962C8B-B14F-4D97-AF65-F5344CB8AC3E}">
        <p14:creationId xmlns:p14="http://schemas.microsoft.com/office/powerpoint/2010/main" val="4181752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D663B-B48C-43D7-A0CD-9E52D944DC15}"/>
              </a:ext>
            </a:extLst>
          </p:cNvPr>
          <p:cNvSpPr>
            <a:spLocks noGrp="1"/>
          </p:cNvSpPr>
          <p:nvPr>
            <p:ph type="title"/>
          </p:nvPr>
        </p:nvSpPr>
        <p:spPr/>
        <p:txBody>
          <a:bodyPr/>
          <a:lstStyle/>
          <a:p>
            <a:endParaRPr lang="en-IN" dirty="0"/>
          </a:p>
        </p:txBody>
      </p:sp>
      <p:graphicFrame>
        <p:nvGraphicFramePr>
          <p:cNvPr id="4" name="Content Placeholder 3">
            <a:extLst>
              <a:ext uri="{FF2B5EF4-FFF2-40B4-BE49-F238E27FC236}">
                <a16:creationId xmlns:a16="http://schemas.microsoft.com/office/drawing/2014/main" id="{8379843E-3682-42BA-B4B7-9399AF3A1A12}"/>
              </a:ext>
            </a:extLst>
          </p:cNvPr>
          <p:cNvGraphicFramePr>
            <a:graphicFrameLocks noGrp="1"/>
          </p:cNvGraphicFramePr>
          <p:nvPr>
            <p:ph idx="1"/>
            <p:extLst>
              <p:ext uri="{D42A27DB-BD31-4B8C-83A1-F6EECF244321}">
                <p14:modId xmlns:p14="http://schemas.microsoft.com/office/powerpoint/2010/main" val="2192697254"/>
              </p:ext>
            </p:extLst>
          </p:nvPr>
        </p:nvGraphicFramePr>
        <p:xfrm>
          <a:off x="661306" y="862239"/>
          <a:ext cx="10997292" cy="5171164"/>
        </p:xfrm>
        <a:graphic>
          <a:graphicData uri="http://schemas.openxmlformats.org/drawingml/2006/table">
            <a:tbl>
              <a:tblPr firstRow="1" bandRow="1">
                <a:tableStyleId>{5C22544A-7EE6-4342-B048-85BDC9FD1C3A}</a:tableStyleId>
              </a:tblPr>
              <a:tblGrid>
                <a:gridCol w="3665764">
                  <a:extLst>
                    <a:ext uri="{9D8B030D-6E8A-4147-A177-3AD203B41FA5}">
                      <a16:colId xmlns:a16="http://schemas.microsoft.com/office/drawing/2014/main" val="4282890246"/>
                    </a:ext>
                  </a:extLst>
                </a:gridCol>
                <a:gridCol w="3665764">
                  <a:extLst>
                    <a:ext uri="{9D8B030D-6E8A-4147-A177-3AD203B41FA5}">
                      <a16:colId xmlns:a16="http://schemas.microsoft.com/office/drawing/2014/main" val="993462141"/>
                    </a:ext>
                  </a:extLst>
                </a:gridCol>
                <a:gridCol w="3665764">
                  <a:extLst>
                    <a:ext uri="{9D8B030D-6E8A-4147-A177-3AD203B41FA5}">
                      <a16:colId xmlns:a16="http://schemas.microsoft.com/office/drawing/2014/main" val="4053609948"/>
                    </a:ext>
                  </a:extLst>
                </a:gridCol>
              </a:tblGrid>
              <a:tr h="455362">
                <a:tc>
                  <a:txBody>
                    <a:bodyPr/>
                    <a:lstStyle/>
                    <a:p>
                      <a:r>
                        <a:rPr lang="en-IN" dirty="0"/>
                        <a:t>Feature</a:t>
                      </a:r>
                    </a:p>
                  </a:txBody>
                  <a:tcPr anchor="ctr"/>
                </a:tc>
                <a:tc>
                  <a:txBody>
                    <a:bodyPr/>
                    <a:lstStyle/>
                    <a:p>
                      <a:r>
                        <a:rPr lang="en-IN" dirty="0"/>
                        <a:t>What it does</a:t>
                      </a:r>
                    </a:p>
                  </a:txBody>
                  <a:tcPr anchor="ctr"/>
                </a:tc>
                <a:tc>
                  <a:txBody>
                    <a:bodyPr/>
                    <a:lstStyle/>
                    <a:p>
                      <a:r>
                        <a:rPr lang="en-IN" dirty="0"/>
                        <a:t>Best use</a:t>
                      </a:r>
                    </a:p>
                  </a:txBody>
                  <a:tcPr anchor="ctr"/>
                </a:tc>
                <a:extLst>
                  <a:ext uri="{0D108BD9-81ED-4DB2-BD59-A6C34878D82A}">
                    <a16:rowId xmlns:a16="http://schemas.microsoft.com/office/drawing/2014/main" val="1735470439"/>
                  </a:ext>
                </a:extLst>
              </a:tr>
              <a:tr h="785967">
                <a:tc>
                  <a:txBody>
                    <a:bodyPr/>
                    <a:lstStyle/>
                    <a:p>
                      <a:r>
                        <a:rPr lang="en-IN" b="1"/>
                        <a:t>Slide Deck</a:t>
                      </a:r>
                      <a:endParaRPr lang="en-IN"/>
                    </a:p>
                  </a:txBody>
                  <a:tcPr anchor="ctr"/>
                </a:tc>
                <a:tc>
                  <a:txBody>
                    <a:bodyPr/>
                    <a:lstStyle/>
                    <a:p>
                      <a:r>
                        <a:rPr lang="en-US"/>
                        <a:t>Converts your source material into a presentation</a:t>
                      </a:r>
                    </a:p>
                  </a:txBody>
                  <a:tcPr anchor="ctr"/>
                </a:tc>
                <a:tc>
                  <a:txBody>
                    <a:bodyPr/>
                    <a:lstStyle/>
                    <a:p>
                      <a:r>
                        <a:rPr lang="en-IN"/>
                        <a:t>Teaching / seminars</a:t>
                      </a:r>
                    </a:p>
                  </a:txBody>
                  <a:tcPr anchor="ctr"/>
                </a:tc>
                <a:extLst>
                  <a:ext uri="{0D108BD9-81ED-4DB2-BD59-A6C34878D82A}">
                    <a16:rowId xmlns:a16="http://schemas.microsoft.com/office/drawing/2014/main" val="3610316150"/>
                  </a:ext>
                </a:extLst>
              </a:tr>
              <a:tr h="785967">
                <a:tc>
                  <a:txBody>
                    <a:bodyPr/>
                    <a:lstStyle/>
                    <a:p>
                      <a:r>
                        <a:rPr lang="en-IN" b="1"/>
                        <a:t>Mind Map</a:t>
                      </a:r>
                      <a:endParaRPr lang="en-IN"/>
                    </a:p>
                  </a:txBody>
                  <a:tcPr anchor="ctr"/>
                </a:tc>
                <a:tc>
                  <a:txBody>
                    <a:bodyPr/>
                    <a:lstStyle/>
                    <a:p>
                      <a:r>
                        <a:rPr lang="en-US"/>
                        <a:t>Visually organizes concepts and relationships</a:t>
                      </a:r>
                    </a:p>
                  </a:txBody>
                  <a:tcPr anchor="ctr"/>
                </a:tc>
                <a:tc>
                  <a:txBody>
                    <a:bodyPr/>
                    <a:lstStyle/>
                    <a:p>
                      <a:r>
                        <a:rPr lang="en-IN"/>
                        <a:t>Understanding a topic</a:t>
                      </a:r>
                    </a:p>
                  </a:txBody>
                  <a:tcPr anchor="ctr"/>
                </a:tc>
                <a:extLst>
                  <a:ext uri="{0D108BD9-81ED-4DB2-BD59-A6C34878D82A}">
                    <a16:rowId xmlns:a16="http://schemas.microsoft.com/office/drawing/2014/main" val="644544922"/>
                  </a:ext>
                </a:extLst>
              </a:tr>
              <a:tr h="785967">
                <a:tc>
                  <a:txBody>
                    <a:bodyPr/>
                    <a:lstStyle/>
                    <a:p>
                      <a:r>
                        <a:rPr lang="en-IN" b="1"/>
                        <a:t>Video Overview</a:t>
                      </a:r>
                      <a:endParaRPr lang="en-IN"/>
                    </a:p>
                  </a:txBody>
                  <a:tcPr anchor="ctr"/>
                </a:tc>
                <a:tc>
                  <a:txBody>
                    <a:bodyPr/>
                    <a:lstStyle/>
                    <a:p>
                      <a:r>
                        <a:rPr lang="en-US"/>
                        <a:t>Creates a video-style explanation from your sources</a:t>
                      </a:r>
                    </a:p>
                  </a:txBody>
                  <a:tcPr anchor="ctr"/>
                </a:tc>
                <a:tc>
                  <a:txBody>
                    <a:bodyPr/>
                    <a:lstStyle/>
                    <a:p>
                      <a:r>
                        <a:rPr lang="en-IN"/>
                        <a:t>Visual learning</a:t>
                      </a:r>
                    </a:p>
                  </a:txBody>
                  <a:tcPr anchor="ctr"/>
                </a:tc>
                <a:extLst>
                  <a:ext uri="{0D108BD9-81ED-4DB2-BD59-A6C34878D82A}">
                    <a16:rowId xmlns:a16="http://schemas.microsoft.com/office/drawing/2014/main" val="222109976"/>
                  </a:ext>
                </a:extLst>
              </a:tr>
              <a:tr h="785967">
                <a:tc>
                  <a:txBody>
                    <a:bodyPr/>
                    <a:lstStyle/>
                    <a:p>
                      <a:r>
                        <a:rPr lang="en-IN" b="1"/>
                        <a:t>Quiz</a:t>
                      </a:r>
                      <a:endParaRPr lang="en-IN"/>
                    </a:p>
                  </a:txBody>
                  <a:tcPr anchor="ctr"/>
                </a:tc>
                <a:tc>
                  <a:txBody>
                    <a:bodyPr/>
                    <a:lstStyle/>
                    <a:p>
                      <a:r>
                        <a:rPr lang="en-US"/>
                        <a:t>Generates questions to test understanding</a:t>
                      </a:r>
                    </a:p>
                  </a:txBody>
                  <a:tcPr anchor="ctr"/>
                </a:tc>
                <a:tc>
                  <a:txBody>
                    <a:bodyPr/>
                    <a:lstStyle/>
                    <a:p>
                      <a:r>
                        <a:rPr lang="en-IN"/>
                        <a:t>Practice / assessment</a:t>
                      </a:r>
                    </a:p>
                  </a:txBody>
                  <a:tcPr anchor="ctr"/>
                </a:tc>
                <a:extLst>
                  <a:ext uri="{0D108BD9-81ED-4DB2-BD59-A6C34878D82A}">
                    <a16:rowId xmlns:a16="http://schemas.microsoft.com/office/drawing/2014/main" val="3370494159"/>
                  </a:ext>
                </a:extLst>
              </a:tr>
              <a:tr h="785967">
                <a:tc>
                  <a:txBody>
                    <a:bodyPr/>
                    <a:lstStyle/>
                    <a:p>
                      <a:r>
                        <a:rPr lang="en-IN" b="1"/>
                        <a:t>Infographic</a:t>
                      </a:r>
                      <a:endParaRPr lang="en-IN"/>
                    </a:p>
                  </a:txBody>
                  <a:tcPr anchor="ctr"/>
                </a:tc>
                <a:tc>
                  <a:txBody>
                    <a:bodyPr/>
                    <a:lstStyle/>
                    <a:p>
                      <a:r>
                        <a:rPr lang="en-US"/>
                        <a:t>Converts information into a visual summary</a:t>
                      </a:r>
                    </a:p>
                  </a:txBody>
                  <a:tcPr anchor="ctr"/>
                </a:tc>
                <a:tc>
                  <a:txBody>
                    <a:bodyPr/>
                    <a:lstStyle/>
                    <a:p>
                      <a:r>
                        <a:rPr lang="en-IN"/>
                        <a:t>Posters / quick learning</a:t>
                      </a:r>
                    </a:p>
                  </a:txBody>
                  <a:tcPr anchor="ctr"/>
                </a:tc>
                <a:extLst>
                  <a:ext uri="{0D108BD9-81ED-4DB2-BD59-A6C34878D82A}">
                    <a16:rowId xmlns:a16="http://schemas.microsoft.com/office/drawing/2014/main" val="3709229285"/>
                  </a:ext>
                </a:extLst>
              </a:tr>
              <a:tr h="785967">
                <a:tc>
                  <a:txBody>
                    <a:bodyPr/>
                    <a:lstStyle/>
                    <a:p>
                      <a:r>
                        <a:rPr lang="en-IN" b="1"/>
                        <a:t>Flashcards</a:t>
                      </a:r>
                      <a:endParaRPr lang="en-IN"/>
                    </a:p>
                  </a:txBody>
                  <a:tcPr anchor="ctr"/>
                </a:tc>
                <a:tc>
                  <a:txBody>
                    <a:bodyPr/>
                    <a:lstStyle/>
                    <a:p>
                      <a:r>
                        <a:rPr lang="en-US"/>
                        <a:t>Creates question–answer cards for revision</a:t>
                      </a:r>
                    </a:p>
                  </a:txBody>
                  <a:tcPr anchor="ctr"/>
                </a:tc>
                <a:tc>
                  <a:txBody>
                    <a:bodyPr/>
                    <a:lstStyle/>
                    <a:p>
                      <a:r>
                        <a:rPr lang="en-IN" dirty="0"/>
                        <a:t>Exam preparation</a:t>
                      </a:r>
                    </a:p>
                  </a:txBody>
                  <a:tcPr anchor="ctr"/>
                </a:tc>
                <a:extLst>
                  <a:ext uri="{0D108BD9-81ED-4DB2-BD59-A6C34878D82A}">
                    <a16:rowId xmlns:a16="http://schemas.microsoft.com/office/drawing/2014/main" val="2725834473"/>
                  </a:ext>
                </a:extLst>
              </a:tr>
            </a:tbl>
          </a:graphicData>
        </a:graphic>
      </p:graphicFrame>
    </p:spTree>
    <p:extLst>
      <p:ext uri="{BB962C8B-B14F-4D97-AF65-F5344CB8AC3E}">
        <p14:creationId xmlns:p14="http://schemas.microsoft.com/office/powerpoint/2010/main" val="29073107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FD6B4-09BB-47E8-B714-233C86E4DE28}"/>
              </a:ext>
            </a:extLst>
          </p:cNvPr>
          <p:cNvSpPr>
            <a:spLocks noGrp="1"/>
          </p:cNvSpPr>
          <p:nvPr>
            <p:ph type="title"/>
          </p:nvPr>
        </p:nvSpPr>
        <p:spPr/>
        <p:txBody>
          <a:bodyPr/>
          <a:lstStyle/>
          <a:p>
            <a:r>
              <a:rPr lang="en-IN" dirty="0"/>
              <a:t>https://app.notion.com/ai</a:t>
            </a:r>
          </a:p>
        </p:txBody>
      </p:sp>
      <p:sp>
        <p:nvSpPr>
          <p:cNvPr id="3" name="Content Placeholder 2">
            <a:extLst>
              <a:ext uri="{FF2B5EF4-FFF2-40B4-BE49-F238E27FC236}">
                <a16:creationId xmlns:a16="http://schemas.microsoft.com/office/drawing/2014/main" id="{2B3B0154-D675-452A-AA38-B3C1FEF5E973}"/>
              </a:ext>
            </a:extLst>
          </p:cNvPr>
          <p:cNvSpPr>
            <a:spLocks noGrp="1"/>
          </p:cNvSpPr>
          <p:nvPr>
            <p:ph idx="1"/>
          </p:nvPr>
        </p:nvSpPr>
        <p:spPr/>
        <p:txBody>
          <a:bodyPr/>
          <a:lstStyle/>
          <a:p>
            <a:r>
              <a:rPr lang="en-IN" dirty="0">
                <a:hlinkClick r:id="rId2"/>
              </a:rPr>
              <a:t>https://app.notion.com/ai</a:t>
            </a:r>
            <a:endParaRPr lang="en-IN" dirty="0"/>
          </a:p>
          <a:p>
            <a:endParaRPr lang="en-IN" dirty="0"/>
          </a:p>
        </p:txBody>
      </p:sp>
    </p:spTree>
    <p:extLst>
      <p:ext uri="{BB962C8B-B14F-4D97-AF65-F5344CB8AC3E}">
        <p14:creationId xmlns:p14="http://schemas.microsoft.com/office/powerpoint/2010/main" val="1771777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914B7-B509-4AE1-9DD9-8AE557AC7113}"/>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098CE0D0-7A34-4218-8372-560B8135B2FB}"/>
              </a:ext>
            </a:extLst>
          </p:cNvPr>
          <p:cNvPicPr>
            <a:picLocks noGrp="1" noChangeAspect="1"/>
          </p:cNvPicPr>
          <p:nvPr>
            <p:ph idx="1"/>
          </p:nvPr>
        </p:nvPicPr>
        <p:blipFill>
          <a:blip r:embed="rId2"/>
          <a:stretch>
            <a:fillRect/>
          </a:stretch>
        </p:blipFill>
        <p:spPr>
          <a:xfrm>
            <a:off x="838200" y="1903968"/>
            <a:ext cx="10515600" cy="4194652"/>
          </a:xfrm>
          <a:prstGeom prst="rect">
            <a:avLst/>
          </a:prstGeom>
        </p:spPr>
      </p:pic>
    </p:spTree>
    <p:extLst>
      <p:ext uri="{BB962C8B-B14F-4D97-AF65-F5344CB8AC3E}">
        <p14:creationId xmlns:p14="http://schemas.microsoft.com/office/powerpoint/2010/main" val="316366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5DB25-9152-4A11-8BE5-025A6DC4EC0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C2F760B-3AC2-4ABE-9AE1-5DC948E4D611}"/>
              </a:ext>
            </a:extLst>
          </p:cNvPr>
          <p:cNvSpPr>
            <a:spLocks noGrp="1"/>
          </p:cNvSpPr>
          <p:nvPr>
            <p:ph idx="1"/>
          </p:nvPr>
        </p:nvSpPr>
        <p:spPr/>
        <p:txBody>
          <a:bodyPr>
            <a:normAutofit fontScale="62500" lnSpcReduction="20000"/>
          </a:bodyPr>
          <a:lstStyle/>
          <a:p>
            <a:r>
              <a:rPr lang="en-US" dirty="0"/>
              <a:t>Start a draft:</a:t>
            </a:r>
          </a:p>
          <a:p>
            <a:r>
              <a:rPr lang="en-US" dirty="0"/>
              <a:t>Create a AI Learning Hub for beginners.</a:t>
            </a:r>
          </a:p>
          <a:p>
            <a:r>
              <a:rPr lang="en-US" dirty="0"/>
              <a:t> Include the following sections: </a:t>
            </a:r>
          </a:p>
          <a:p>
            <a:r>
              <a:rPr lang="en-US" dirty="0"/>
              <a:t>1. What is Artificial Intelligence?</a:t>
            </a:r>
          </a:p>
          <a:p>
            <a:r>
              <a:rPr lang="en-US" dirty="0"/>
              <a:t> 2. What is Generative AI? </a:t>
            </a:r>
          </a:p>
          <a:p>
            <a:r>
              <a:rPr lang="en-US" dirty="0"/>
              <a:t>3. What are Large Language Models? </a:t>
            </a:r>
          </a:p>
          <a:p>
            <a:r>
              <a:rPr lang="en-US" dirty="0"/>
              <a:t>4. </a:t>
            </a:r>
            <a:r>
              <a:rPr lang="en-US" dirty="0" err="1"/>
              <a:t>ChatGPT</a:t>
            </a:r>
            <a:r>
              <a:rPr lang="en-US" dirty="0"/>
              <a:t> 5. Claude </a:t>
            </a:r>
          </a:p>
          <a:p>
            <a:r>
              <a:rPr lang="en-US" dirty="0"/>
              <a:t>6. Gemini</a:t>
            </a:r>
          </a:p>
          <a:p>
            <a:r>
              <a:rPr lang="en-US" dirty="0"/>
              <a:t> 7. Prompt Engineering </a:t>
            </a:r>
          </a:p>
          <a:p>
            <a:r>
              <a:rPr lang="en-US" dirty="0"/>
              <a:t>For each topic provide: - </a:t>
            </a:r>
          </a:p>
          <a:p>
            <a:r>
              <a:rPr lang="en-US" dirty="0"/>
              <a:t>Simple explanation – </a:t>
            </a:r>
          </a:p>
          <a:p>
            <a:r>
              <a:rPr lang="en-US" dirty="0"/>
              <a:t>Real-world example </a:t>
            </a:r>
          </a:p>
          <a:p>
            <a:r>
              <a:rPr lang="en-US" dirty="0"/>
              <a:t>Make the content suitable for first-year engineering students.</a:t>
            </a:r>
          </a:p>
          <a:p>
            <a:endParaRPr lang="en-IN" dirty="0"/>
          </a:p>
        </p:txBody>
      </p:sp>
    </p:spTree>
    <p:extLst>
      <p:ext uri="{BB962C8B-B14F-4D97-AF65-F5344CB8AC3E}">
        <p14:creationId xmlns:p14="http://schemas.microsoft.com/office/powerpoint/2010/main" val="1607985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3606C-1FB8-4E93-95B6-9FA9BEC8F0F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A072E91-8174-4AA2-ACF9-C668A6ADCA80}"/>
              </a:ext>
            </a:extLst>
          </p:cNvPr>
          <p:cNvSpPr>
            <a:spLocks noGrp="1"/>
          </p:cNvSpPr>
          <p:nvPr>
            <p:ph idx="1"/>
          </p:nvPr>
        </p:nvSpPr>
        <p:spPr/>
        <p:txBody>
          <a:bodyPr/>
          <a:lstStyle/>
          <a:p>
            <a:r>
              <a:rPr lang="en-US" dirty="0"/>
              <a:t>Meeting Notes creation using AI command</a:t>
            </a:r>
          </a:p>
          <a:p>
            <a:r>
              <a:rPr lang="en-US" dirty="0"/>
              <a:t>Prepare content calendar</a:t>
            </a:r>
          </a:p>
          <a:p>
            <a:r>
              <a:rPr lang="en-US" dirty="0"/>
              <a:t>Explore notion ai different </a:t>
            </a:r>
            <a:r>
              <a:rPr lang="en-US" dirty="0" err="1"/>
              <a:t>fetures</a:t>
            </a:r>
            <a:endParaRPr lang="en-US" dirty="0"/>
          </a:p>
          <a:p>
            <a:endParaRPr lang="en-IN" dirty="0"/>
          </a:p>
        </p:txBody>
      </p:sp>
    </p:spTree>
    <p:extLst>
      <p:ext uri="{BB962C8B-B14F-4D97-AF65-F5344CB8AC3E}">
        <p14:creationId xmlns:p14="http://schemas.microsoft.com/office/powerpoint/2010/main" val="316252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3B7D4-E7A3-4F7E-9355-2C00EDA2426C}"/>
              </a:ext>
            </a:extLst>
          </p:cNvPr>
          <p:cNvSpPr>
            <a:spLocks noGrp="1"/>
          </p:cNvSpPr>
          <p:nvPr>
            <p:ph type="title"/>
          </p:nvPr>
        </p:nvSpPr>
        <p:spPr/>
        <p:txBody>
          <a:bodyPr/>
          <a:lstStyle/>
          <a:p>
            <a:r>
              <a:rPr lang="en-IN" dirty="0"/>
              <a:t>https://gamma.app/</a:t>
            </a:r>
          </a:p>
        </p:txBody>
      </p:sp>
      <p:sp>
        <p:nvSpPr>
          <p:cNvPr id="3" name="Content Placeholder 2">
            <a:extLst>
              <a:ext uri="{FF2B5EF4-FFF2-40B4-BE49-F238E27FC236}">
                <a16:creationId xmlns:a16="http://schemas.microsoft.com/office/drawing/2014/main" id="{9A0E6D64-5367-4170-87E0-F15CB571BE44}"/>
              </a:ext>
            </a:extLst>
          </p:cNvPr>
          <p:cNvSpPr>
            <a:spLocks noGrp="1"/>
          </p:cNvSpPr>
          <p:nvPr>
            <p:ph idx="1"/>
          </p:nvPr>
        </p:nvSpPr>
        <p:spPr/>
        <p:txBody>
          <a:bodyPr/>
          <a:lstStyle/>
          <a:p>
            <a:r>
              <a:rPr lang="en-IN" dirty="0">
                <a:hlinkClick r:id="rId2"/>
              </a:rPr>
              <a:t>https://gamma.app/</a:t>
            </a:r>
            <a:endParaRPr lang="en-IN" dirty="0"/>
          </a:p>
          <a:p>
            <a:endParaRPr lang="en-US" dirty="0"/>
          </a:p>
          <a:p>
            <a:endParaRPr lang="en-IN" dirty="0"/>
          </a:p>
        </p:txBody>
      </p:sp>
    </p:spTree>
    <p:extLst>
      <p:ext uri="{BB962C8B-B14F-4D97-AF65-F5344CB8AC3E}">
        <p14:creationId xmlns:p14="http://schemas.microsoft.com/office/powerpoint/2010/main" val="1456070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1A355-7606-43AC-BD87-922A9C261CC4}"/>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B1FC63F4-F6A4-49AC-B51B-470A53D9D9EB}"/>
              </a:ext>
            </a:extLst>
          </p:cNvPr>
          <p:cNvPicPr>
            <a:picLocks noGrp="1" noChangeAspect="1"/>
          </p:cNvPicPr>
          <p:nvPr>
            <p:ph idx="1"/>
          </p:nvPr>
        </p:nvPicPr>
        <p:blipFill>
          <a:blip r:embed="rId2"/>
          <a:stretch>
            <a:fillRect/>
          </a:stretch>
        </p:blipFill>
        <p:spPr>
          <a:xfrm>
            <a:off x="838200" y="1830804"/>
            <a:ext cx="10515600" cy="4340980"/>
          </a:xfrm>
          <a:prstGeom prst="rect">
            <a:avLst/>
          </a:prstGeom>
        </p:spPr>
      </p:pic>
    </p:spTree>
    <p:extLst>
      <p:ext uri="{BB962C8B-B14F-4D97-AF65-F5344CB8AC3E}">
        <p14:creationId xmlns:p14="http://schemas.microsoft.com/office/powerpoint/2010/main" val="1652315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D4DC3-9FB6-423C-A596-10E219AA5670}"/>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3DE37651-8D4D-4038-BE22-860295CC86F0}"/>
              </a:ext>
            </a:extLst>
          </p:cNvPr>
          <p:cNvPicPr>
            <a:picLocks noGrp="1" noChangeAspect="1"/>
          </p:cNvPicPr>
          <p:nvPr>
            <p:ph idx="1"/>
          </p:nvPr>
        </p:nvPicPr>
        <p:blipFill>
          <a:blip r:embed="rId2"/>
          <a:stretch>
            <a:fillRect/>
          </a:stretch>
        </p:blipFill>
        <p:spPr>
          <a:xfrm>
            <a:off x="2422942" y="1825625"/>
            <a:ext cx="7346116" cy="4351338"/>
          </a:xfrm>
          <a:prstGeom prst="rect">
            <a:avLst/>
          </a:prstGeom>
        </p:spPr>
      </p:pic>
    </p:spTree>
    <p:extLst>
      <p:ext uri="{BB962C8B-B14F-4D97-AF65-F5344CB8AC3E}">
        <p14:creationId xmlns:p14="http://schemas.microsoft.com/office/powerpoint/2010/main" val="2856199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6A801-D57B-411D-9887-BCDC7C3ED76C}"/>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27957EC4-B323-44F2-B04E-E5C453F72021}"/>
              </a:ext>
            </a:extLst>
          </p:cNvPr>
          <p:cNvPicPr>
            <a:picLocks noGrp="1" noChangeAspect="1"/>
          </p:cNvPicPr>
          <p:nvPr>
            <p:ph idx="1"/>
          </p:nvPr>
        </p:nvPicPr>
        <p:blipFill>
          <a:blip r:embed="rId2"/>
          <a:stretch>
            <a:fillRect/>
          </a:stretch>
        </p:blipFill>
        <p:spPr>
          <a:xfrm>
            <a:off x="1452234" y="1825625"/>
            <a:ext cx="9287532" cy="4351338"/>
          </a:xfrm>
          <a:prstGeom prst="rect">
            <a:avLst/>
          </a:prstGeom>
        </p:spPr>
      </p:pic>
    </p:spTree>
    <p:extLst>
      <p:ext uri="{BB962C8B-B14F-4D97-AF65-F5344CB8AC3E}">
        <p14:creationId xmlns:p14="http://schemas.microsoft.com/office/powerpoint/2010/main" val="12787536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C7D6-332A-488A-89FC-F4031DF934F0}"/>
              </a:ext>
            </a:extLst>
          </p:cNvPr>
          <p:cNvSpPr>
            <a:spLocks noGrp="1"/>
          </p:cNvSpPr>
          <p:nvPr>
            <p:ph type="title"/>
          </p:nvPr>
        </p:nvSpPr>
        <p:spPr/>
        <p:txBody>
          <a:bodyPr/>
          <a:lstStyle/>
          <a:p>
            <a:r>
              <a:rPr lang="en-IN" dirty="0"/>
              <a:t>https://www.napkin.ai/</a:t>
            </a:r>
          </a:p>
        </p:txBody>
      </p:sp>
      <p:sp>
        <p:nvSpPr>
          <p:cNvPr id="3" name="Content Placeholder 2">
            <a:extLst>
              <a:ext uri="{FF2B5EF4-FFF2-40B4-BE49-F238E27FC236}">
                <a16:creationId xmlns:a16="http://schemas.microsoft.com/office/drawing/2014/main" id="{AEF3DE3E-6D8E-4BDF-84D4-1C5C02F01695}"/>
              </a:ext>
            </a:extLst>
          </p:cNvPr>
          <p:cNvSpPr>
            <a:spLocks noGrp="1"/>
          </p:cNvSpPr>
          <p:nvPr>
            <p:ph idx="1"/>
          </p:nvPr>
        </p:nvSpPr>
        <p:spPr/>
        <p:txBody>
          <a:bodyPr/>
          <a:lstStyle/>
          <a:p>
            <a:r>
              <a:rPr lang="en-IN" dirty="0"/>
              <a:t>https://www.napkin.ai/</a:t>
            </a:r>
          </a:p>
        </p:txBody>
      </p:sp>
    </p:spTree>
    <p:extLst>
      <p:ext uri="{BB962C8B-B14F-4D97-AF65-F5344CB8AC3E}">
        <p14:creationId xmlns:p14="http://schemas.microsoft.com/office/powerpoint/2010/main" val="2169003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4097C-D7E3-462F-8C92-32373A4C7F43}"/>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D6BD5594-E609-404C-A935-0A7E12BD513A}"/>
              </a:ext>
            </a:extLst>
          </p:cNvPr>
          <p:cNvPicPr>
            <a:picLocks noGrp="1" noChangeAspect="1"/>
          </p:cNvPicPr>
          <p:nvPr>
            <p:ph idx="1"/>
          </p:nvPr>
        </p:nvPicPr>
        <p:blipFill>
          <a:blip r:embed="rId2"/>
          <a:stretch>
            <a:fillRect/>
          </a:stretch>
        </p:blipFill>
        <p:spPr>
          <a:xfrm>
            <a:off x="2513418" y="1825625"/>
            <a:ext cx="7165164" cy="4351338"/>
          </a:xfrm>
          <a:prstGeom prst="rect">
            <a:avLst/>
          </a:prstGeom>
        </p:spPr>
      </p:pic>
    </p:spTree>
    <p:extLst>
      <p:ext uri="{BB962C8B-B14F-4D97-AF65-F5344CB8AC3E}">
        <p14:creationId xmlns:p14="http://schemas.microsoft.com/office/powerpoint/2010/main" val="521464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3F1CD-90C6-4656-939B-051C4385AAFF}"/>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8CCE8179-E32D-4063-A5D2-FA627BE44384}"/>
              </a:ext>
            </a:extLst>
          </p:cNvPr>
          <p:cNvPicPr>
            <a:picLocks noGrp="1" noChangeAspect="1"/>
          </p:cNvPicPr>
          <p:nvPr>
            <p:ph idx="1"/>
          </p:nvPr>
        </p:nvPicPr>
        <p:blipFill>
          <a:blip r:embed="rId2"/>
          <a:stretch>
            <a:fillRect/>
          </a:stretch>
        </p:blipFill>
        <p:spPr>
          <a:xfrm>
            <a:off x="1977813" y="2324808"/>
            <a:ext cx="8236373" cy="3352972"/>
          </a:xfrm>
          <a:prstGeom prst="rect">
            <a:avLst/>
          </a:prstGeom>
        </p:spPr>
      </p:pic>
    </p:spTree>
    <p:extLst>
      <p:ext uri="{BB962C8B-B14F-4D97-AF65-F5344CB8AC3E}">
        <p14:creationId xmlns:p14="http://schemas.microsoft.com/office/powerpoint/2010/main" val="1633147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E2FB5-8B2C-405B-B2D2-B7CD14BBBF2E}"/>
              </a:ext>
            </a:extLst>
          </p:cNvPr>
          <p:cNvSpPr>
            <a:spLocks noGrp="1"/>
          </p:cNvSpPr>
          <p:nvPr>
            <p:ph type="title"/>
          </p:nvPr>
        </p:nvSpPr>
        <p:spPr/>
        <p:txBody>
          <a:bodyPr/>
          <a:lstStyle/>
          <a:p>
            <a:r>
              <a:rPr lang="en-US" dirty="0"/>
              <a:t>Describing idea</a:t>
            </a:r>
            <a:endParaRPr lang="en-IN" dirty="0"/>
          </a:p>
        </p:txBody>
      </p:sp>
      <p:pic>
        <p:nvPicPr>
          <p:cNvPr id="4" name="Content Placeholder 3">
            <a:extLst>
              <a:ext uri="{FF2B5EF4-FFF2-40B4-BE49-F238E27FC236}">
                <a16:creationId xmlns:a16="http://schemas.microsoft.com/office/drawing/2014/main" id="{22061BB8-4920-45F9-9D0A-99C2C15D4B56}"/>
              </a:ext>
            </a:extLst>
          </p:cNvPr>
          <p:cNvPicPr>
            <a:picLocks noGrp="1" noChangeAspect="1"/>
          </p:cNvPicPr>
          <p:nvPr>
            <p:ph idx="1"/>
          </p:nvPr>
        </p:nvPicPr>
        <p:blipFill>
          <a:blip r:embed="rId2"/>
          <a:stretch>
            <a:fillRect/>
          </a:stretch>
        </p:blipFill>
        <p:spPr>
          <a:xfrm>
            <a:off x="3054193" y="2035868"/>
            <a:ext cx="6083613" cy="3930852"/>
          </a:xfrm>
          <a:prstGeom prst="rect">
            <a:avLst/>
          </a:prstGeom>
        </p:spPr>
      </p:pic>
    </p:spTree>
    <p:extLst>
      <p:ext uri="{BB962C8B-B14F-4D97-AF65-F5344CB8AC3E}">
        <p14:creationId xmlns:p14="http://schemas.microsoft.com/office/powerpoint/2010/main" val="3505004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0E6FA-6EF8-4703-9DA8-91699CA12C88}"/>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B02F0071-C310-49B2-9D31-86E88CAEAC67}"/>
              </a:ext>
            </a:extLst>
          </p:cNvPr>
          <p:cNvPicPr>
            <a:picLocks noGrp="1" noChangeAspect="1"/>
          </p:cNvPicPr>
          <p:nvPr>
            <p:ph idx="1"/>
          </p:nvPr>
        </p:nvPicPr>
        <p:blipFill>
          <a:blip r:embed="rId2"/>
          <a:stretch>
            <a:fillRect/>
          </a:stretch>
        </p:blipFill>
        <p:spPr>
          <a:xfrm>
            <a:off x="3143251" y="1690688"/>
            <a:ext cx="4238682" cy="3779792"/>
          </a:xfrm>
          <a:prstGeom prst="rect">
            <a:avLst/>
          </a:prstGeom>
        </p:spPr>
      </p:pic>
    </p:spTree>
    <p:extLst>
      <p:ext uri="{BB962C8B-B14F-4D97-AF65-F5344CB8AC3E}">
        <p14:creationId xmlns:p14="http://schemas.microsoft.com/office/powerpoint/2010/main" val="8670256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A9A44-D781-47AB-863C-D013A64451E8}"/>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9838806E-D2EF-4780-AAB1-E558D6C6B628}"/>
              </a:ext>
            </a:extLst>
          </p:cNvPr>
          <p:cNvPicPr>
            <a:picLocks noGrp="1" noChangeAspect="1"/>
          </p:cNvPicPr>
          <p:nvPr>
            <p:ph idx="1"/>
          </p:nvPr>
        </p:nvPicPr>
        <p:blipFill>
          <a:blip r:embed="rId2"/>
          <a:stretch>
            <a:fillRect/>
          </a:stretch>
        </p:blipFill>
        <p:spPr>
          <a:xfrm>
            <a:off x="3035142" y="1845358"/>
            <a:ext cx="6121715" cy="4311872"/>
          </a:xfrm>
          <a:prstGeom prst="rect">
            <a:avLst/>
          </a:prstGeom>
        </p:spPr>
      </p:pic>
    </p:spTree>
    <p:extLst>
      <p:ext uri="{BB962C8B-B14F-4D97-AF65-F5344CB8AC3E}">
        <p14:creationId xmlns:p14="http://schemas.microsoft.com/office/powerpoint/2010/main" val="853973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9D4B4-18FA-41F6-9FAF-F9A24EA692C4}"/>
              </a:ext>
            </a:extLst>
          </p:cNvPr>
          <p:cNvSpPr>
            <a:spLocks noGrp="1"/>
          </p:cNvSpPr>
          <p:nvPr>
            <p:ph type="title"/>
          </p:nvPr>
        </p:nvSpPr>
        <p:spPr/>
        <p:txBody>
          <a:bodyPr/>
          <a:lstStyle/>
          <a:p>
            <a:r>
              <a:rPr lang="en-US" dirty="0"/>
              <a:t>Give to your napkin create images</a:t>
            </a:r>
            <a:endParaRPr lang="en-IN" dirty="0"/>
          </a:p>
        </p:txBody>
      </p:sp>
      <p:sp>
        <p:nvSpPr>
          <p:cNvPr id="3" name="Content Placeholder 2">
            <a:extLst>
              <a:ext uri="{FF2B5EF4-FFF2-40B4-BE49-F238E27FC236}">
                <a16:creationId xmlns:a16="http://schemas.microsoft.com/office/drawing/2014/main" id="{04E622CB-573C-4850-9B7F-64A76A6CDCDD}"/>
              </a:ext>
            </a:extLst>
          </p:cNvPr>
          <p:cNvSpPr>
            <a:spLocks noGrp="1"/>
          </p:cNvSpPr>
          <p:nvPr>
            <p:ph idx="1"/>
          </p:nvPr>
        </p:nvSpPr>
        <p:spPr/>
        <p:txBody>
          <a:bodyPr/>
          <a:lstStyle/>
          <a:p>
            <a:r>
              <a:rPr lang="en-US" dirty="0"/>
              <a:t>Modern AI learning requires more than prompt engineering. Students should develop AI fundamentals, prompt engineering, critical thinking, data literacy, Python programming, API knowledge, RAG, AI agents, tool usage and responsible AI skills. They should also learn how to verify AI outputs and build real-world applications.</a:t>
            </a:r>
            <a:endParaRPr lang="en-IN" dirty="0"/>
          </a:p>
        </p:txBody>
      </p:sp>
    </p:spTree>
    <p:extLst>
      <p:ext uri="{BB962C8B-B14F-4D97-AF65-F5344CB8AC3E}">
        <p14:creationId xmlns:p14="http://schemas.microsoft.com/office/powerpoint/2010/main" val="1618272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F7CFA-D824-47C0-B3B2-77FF557F98EE}"/>
              </a:ext>
            </a:extLst>
          </p:cNvPr>
          <p:cNvSpPr>
            <a:spLocks noGrp="1"/>
          </p:cNvSpPr>
          <p:nvPr>
            <p:ph type="title"/>
          </p:nvPr>
        </p:nvSpPr>
        <p:spPr/>
        <p:txBody>
          <a:bodyPr/>
          <a:lstStyle/>
          <a:p>
            <a:r>
              <a:rPr lang="en-US" dirty="0"/>
              <a:t>Adobe firefly create images</a:t>
            </a:r>
            <a:endParaRPr lang="en-IN" dirty="0"/>
          </a:p>
        </p:txBody>
      </p:sp>
      <p:pic>
        <p:nvPicPr>
          <p:cNvPr id="4" name="Content Placeholder 3">
            <a:extLst>
              <a:ext uri="{FF2B5EF4-FFF2-40B4-BE49-F238E27FC236}">
                <a16:creationId xmlns:a16="http://schemas.microsoft.com/office/drawing/2014/main" id="{7E49AA6A-36ED-46DA-BF5A-14B8F4D8127B}"/>
              </a:ext>
            </a:extLst>
          </p:cNvPr>
          <p:cNvPicPr>
            <a:picLocks noGrp="1" noChangeAspect="1"/>
          </p:cNvPicPr>
          <p:nvPr>
            <p:ph idx="1"/>
          </p:nvPr>
        </p:nvPicPr>
        <p:blipFill>
          <a:blip r:embed="rId2"/>
          <a:stretch>
            <a:fillRect/>
          </a:stretch>
        </p:blipFill>
        <p:spPr>
          <a:xfrm>
            <a:off x="2291443" y="1599111"/>
            <a:ext cx="7356583" cy="4585343"/>
          </a:xfrm>
          <a:prstGeom prst="rect">
            <a:avLst/>
          </a:prstGeom>
        </p:spPr>
      </p:pic>
    </p:spTree>
    <p:extLst>
      <p:ext uri="{BB962C8B-B14F-4D97-AF65-F5344CB8AC3E}">
        <p14:creationId xmlns:p14="http://schemas.microsoft.com/office/powerpoint/2010/main" val="224742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D61FE-2AA6-4F05-B5E0-98B3EB6ACC6F}"/>
              </a:ext>
            </a:extLst>
          </p:cNvPr>
          <p:cNvSpPr>
            <a:spLocks noGrp="1"/>
          </p:cNvSpPr>
          <p:nvPr>
            <p:ph type="title"/>
          </p:nvPr>
        </p:nvSpPr>
        <p:spPr/>
        <p:txBody>
          <a:bodyPr/>
          <a:lstStyle/>
          <a:p>
            <a:r>
              <a:rPr lang="en-US" dirty="0"/>
              <a:t>Edit images-adobe firefly</a:t>
            </a:r>
            <a:endParaRPr lang="en-IN" dirty="0"/>
          </a:p>
        </p:txBody>
      </p:sp>
      <p:pic>
        <p:nvPicPr>
          <p:cNvPr id="4" name="Content Placeholder 3">
            <a:extLst>
              <a:ext uri="{FF2B5EF4-FFF2-40B4-BE49-F238E27FC236}">
                <a16:creationId xmlns:a16="http://schemas.microsoft.com/office/drawing/2014/main" id="{4D6C636C-3A94-48EF-8F64-DD6B6A1B261F}"/>
              </a:ext>
            </a:extLst>
          </p:cNvPr>
          <p:cNvPicPr>
            <a:picLocks noGrp="1" noChangeAspect="1"/>
          </p:cNvPicPr>
          <p:nvPr>
            <p:ph idx="1"/>
          </p:nvPr>
        </p:nvPicPr>
        <p:blipFill>
          <a:blip r:embed="rId2"/>
          <a:stretch>
            <a:fillRect/>
          </a:stretch>
        </p:blipFill>
        <p:spPr>
          <a:xfrm>
            <a:off x="2200075" y="2254954"/>
            <a:ext cx="7791850" cy="3492679"/>
          </a:xfrm>
          <a:prstGeom prst="rect">
            <a:avLst/>
          </a:prstGeom>
        </p:spPr>
      </p:pic>
    </p:spTree>
    <p:extLst>
      <p:ext uri="{BB962C8B-B14F-4D97-AF65-F5344CB8AC3E}">
        <p14:creationId xmlns:p14="http://schemas.microsoft.com/office/powerpoint/2010/main" val="253680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BBEF-6463-4ED6-9F43-D37CB1A08FCA}"/>
              </a:ext>
            </a:extLst>
          </p:cNvPr>
          <p:cNvSpPr>
            <a:spLocks noGrp="1"/>
          </p:cNvSpPr>
          <p:nvPr>
            <p:ph type="title"/>
          </p:nvPr>
        </p:nvSpPr>
        <p:spPr/>
        <p:txBody>
          <a:bodyPr/>
          <a:lstStyle/>
          <a:p>
            <a:r>
              <a:rPr lang="en-IN" dirty="0"/>
              <a:t>https://elevenlabs.io/app/home</a:t>
            </a:r>
          </a:p>
        </p:txBody>
      </p:sp>
      <p:sp>
        <p:nvSpPr>
          <p:cNvPr id="3" name="Content Placeholder 2">
            <a:extLst>
              <a:ext uri="{FF2B5EF4-FFF2-40B4-BE49-F238E27FC236}">
                <a16:creationId xmlns:a16="http://schemas.microsoft.com/office/drawing/2014/main" id="{346FD6FD-CCD0-4D16-B8AE-B922AFA1757A}"/>
              </a:ext>
            </a:extLst>
          </p:cNvPr>
          <p:cNvSpPr>
            <a:spLocks noGrp="1"/>
          </p:cNvSpPr>
          <p:nvPr>
            <p:ph idx="1"/>
          </p:nvPr>
        </p:nvSpPr>
        <p:spPr/>
        <p:txBody>
          <a:bodyPr/>
          <a:lstStyle/>
          <a:p>
            <a:r>
              <a:rPr lang="en-IN" dirty="0"/>
              <a:t>https://elevenlabs.io/app/home</a:t>
            </a:r>
          </a:p>
        </p:txBody>
      </p:sp>
    </p:spTree>
    <p:extLst>
      <p:ext uri="{BB962C8B-B14F-4D97-AF65-F5344CB8AC3E}">
        <p14:creationId xmlns:p14="http://schemas.microsoft.com/office/powerpoint/2010/main" val="424590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D99E7-85A6-4B97-9ADF-9B6DC014FEBF}"/>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38E503FC-5125-4815-95B6-4D8213FAD7DB}"/>
              </a:ext>
            </a:extLst>
          </p:cNvPr>
          <p:cNvPicPr>
            <a:picLocks noGrp="1" noChangeAspect="1"/>
          </p:cNvPicPr>
          <p:nvPr>
            <p:ph idx="1"/>
          </p:nvPr>
        </p:nvPicPr>
        <p:blipFill>
          <a:blip r:embed="rId2"/>
          <a:stretch>
            <a:fillRect/>
          </a:stretch>
        </p:blipFill>
        <p:spPr>
          <a:xfrm>
            <a:off x="1028316" y="1825625"/>
            <a:ext cx="10135367" cy="4351338"/>
          </a:xfrm>
          <a:prstGeom prst="rect">
            <a:avLst/>
          </a:prstGeom>
        </p:spPr>
      </p:pic>
    </p:spTree>
    <p:extLst>
      <p:ext uri="{BB962C8B-B14F-4D97-AF65-F5344CB8AC3E}">
        <p14:creationId xmlns:p14="http://schemas.microsoft.com/office/powerpoint/2010/main" val="13317274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B4DB3-9C3A-4DEA-BE99-05B970E1CBAE}"/>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B16449F7-A10F-4E03-858B-C6A188ED4E35}"/>
              </a:ext>
            </a:extLst>
          </p:cNvPr>
          <p:cNvPicPr>
            <a:picLocks noGrp="1" noChangeAspect="1"/>
          </p:cNvPicPr>
          <p:nvPr>
            <p:ph idx="1"/>
          </p:nvPr>
        </p:nvPicPr>
        <p:blipFill>
          <a:blip r:embed="rId2"/>
          <a:stretch>
            <a:fillRect/>
          </a:stretch>
        </p:blipFill>
        <p:spPr>
          <a:xfrm>
            <a:off x="1453911" y="2515317"/>
            <a:ext cx="9284177" cy="2971953"/>
          </a:xfrm>
          <a:prstGeom prst="rect">
            <a:avLst/>
          </a:prstGeom>
        </p:spPr>
      </p:pic>
    </p:spTree>
    <p:extLst>
      <p:ext uri="{BB962C8B-B14F-4D97-AF65-F5344CB8AC3E}">
        <p14:creationId xmlns:p14="http://schemas.microsoft.com/office/powerpoint/2010/main" val="34647970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CD25-9F39-40BB-8E37-6E5A8A2C9D94}"/>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B17683DC-D65C-4167-B864-DB5C4F1E74A5}"/>
              </a:ext>
            </a:extLst>
          </p:cNvPr>
          <p:cNvPicPr>
            <a:picLocks noGrp="1" noChangeAspect="1"/>
          </p:cNvPicPr>
          <p:nvPr>
            <p:ph idx="1"/>
          </p:nvPr>
        </p:nvPicPr>
        <p:blipFill>
          <a:blip r:embed="rId2"/>
          <a:stretch>
            <a:fillRect/>
          </a:stretch>
        </p:blipFill>
        <p:spPr>
          <a:xfrm>
            <a:off x="1549644" y="1825625"/>
            <a:ext cx="9092712" cy="4351338"/>
          </a:xfrm>
          <a:prstGeom prst="rect">
            <a:avLst/>
          </a:prstGeom>
        </p:spPr>
      </p:pic>
    </p:spTree>
    <p:extLst>
      <p:ext uri="{BB962C8B-B14F-4D97-AF65-F5344CB8AC3E}">
        <p14:creationId xmlns:p14="http://schemas.microsoft.com/office/powerpoint/2010/main" val="14617636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E4CF6-BD9D-455F-A418-AEA10797946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A226A97-E94B-40BD-BC4F-F3D552D7ED91}"/>
              </a:ext>
            </a:extLst>
          </p:cNvPr>
          <p:cNvSpPr>
            <a:spLocks noGrp="1"/>
          </p:cNvSpPr>
          <p:nvPr>
            <p:ph idx="1"/>
          </p:nvPr>
        </p:nvSpPr>
        <p:spPr/>
        <p:txBody>
          <a:bodyPr/>
          <a:lstStyle/>
          <a:p>
            <a:r>
              <a:rPr lang="fi-FI" dirty="0"/>
              <a:t>Rai rai raa raa</a:t>
            </a:r>
          </a:p>
          <a:p>
            <a:r>
              <a:rPr lang="fi-FI" dirty="0"/>
              <a:t>Rai rai raa raa</a:t>
            </a:r>
          </a:p>
          <a:p>
            <a:r>
              <a:rPr lang="fi-FI" dirty="0"/>
              <a:t>Adde leni daanai raa raa</a:t>
            </a:r>
          </a:p>
          <a:p>
            <a:endParaRPr lang="fi-FI" dirty="0"/>
          </a:p>
          <a:p>
            <a:r>
              <a:rPr lang="fi-FI" dirty="0"/>
              <a:t>Rai rai raa raa</a:t>
            </a:r>
          </a:p>
          <a:p>
            <a:r>
              <a:rPr lang="fi-FI" dirty="0"/>
              <a:t>Rai rai raa raa</a:t>
            </a:r>
          </a:p>
          <a:p>
            <a:r>
              <a:rPr lang="fi-FI" dirty="0"/>
              <a:t>Adde leni dheenay raa raa</a:t>
            </a:r>
            <a:endParaRPr lang="en-IN" dirty="0"/>
          </a:p>
        </p:txBody>
      </p:sp>
    </p:spTree>
    <p:extLst>
      <p:ext uri="{BB962C8B-B14F-4D97-AF65-F5344CB8AC3E}">
        <p14:creationId xmlns:p14="http://schemas.microsoft.com/office/powerpoint/2010/main" val="15849050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6402F-E664-40E7-8859-1E13D7BAAAA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1DCB121-88B2-4E63-95EE-3C424916547B}"/>
              </a:ext>
            </a:extLst>
          </p:cNvPr>
          <p:cNvSpPr>
            <a:spLocks noGrp="1"/>
          </p:cNvSpPr>
          <p:nvPr>
            <p:ph idx="1"/>
          </p:nvPr>
        </p:nvSpPr>
        <p:spPr/>
        <p:txBody>
          <a:bodyPr>
            <a:normAutofit lnSpcReduction="10000"/>
          </a:bodyPr>
          <a:lstStyle/>
          <a:p>
            <a:r>
              <a:rPr lang="en-IN" dirty="0"/>
              <a:t>High-energy Telugu folk-cinematic song with a powerful male lead</a:t>
            </a:r>
          </a:p>
          <a:p>
            <a:r>
              <a:rPr lang="en-IN" dirty="0"/>
              <a:t>vocal and energetic group chants. Fast tempo around 125–135 BPM.</a:t>
            </a:r>
          </a:p>
          <a:p>
            <a:r>
              <a:rPr lang="en-IN" dirty="0"/>
              <a:t>Prominent </a:t>
            </a:r>
            <a:r>
              <a:rPr lang="en-IN" dirty="0" err="1"/>
              <a:t>dappu</a:t>
            </a:r>
            <a:r>
              <a:rPr lang="en-IN" dirty="0"/>
              <a:t>, </a:t>
            </a:r>
            <a:r>
              <a:rPr lang="en-IN" dirty="0" err="1"/>
              <a:t>thappeta</a:t>
            </a:r>
            <a:r>
              <a:rPr lang="en-IN" dirty="0"/>
              <a:t>, hand percussion and deep bass drums,</a:t>
            </a:r>
          </a:p>
          <a:p>
            <a:r>
              <a:rPr lang="en-IN" dirty="0"/>
              <a:t>with </a:t>
            </a:r>
            <a:r>
              <a:rPr lang="en-IN" dirty="0" err="1"/>
              <a:t>nadaswaram</a:t>
            </a:r>
            <a:r>
              <a:rPr lang="en-IN" dirty="0"/>
              <a:t> phrases between vocal sections. Start with a</a:t>
            </a:r>
          </a:p>
          <a:p>
            <a:r>
              <a:rPr lang="en-IN" dirty="0"/>
              <a:t>short percussion intro, build into a catchy chorus, add call-and-</a:t>
            </a:r>
          </a:p>
          <a:p>
            <a:r>
              <a:rPr lang="en-IN" dirty="0"/>
              <a:t>response vocals, then progressively increase the percussion and</a:t>
            </a:r>
          </a:p>
          <a:p>
            <a:r>
              <a:rPr lang="en-IN" dirty="0"/>
              <a:t>energy toward a dramatic climax. Raw village-folk character</a:t>
            </a:r>
          </a:p>
          <a:p>
            <a:r>
              <a:rPr lang="en-IN" dirty="0"/>
              <a:t>combined with modern cinematic production. Festive, energetic,</a:t>
            </a:r>
          </a:p>
          <a:p>
            <a:r>
              <a:rPr lang="en-IN" dirty="0"/>
              <a:t>mass-celebration mood.</a:t>
            </a:r>
          </a:p>
        </p:txBody>
      </p:sp>
    </p:spTree>
    <p:extLst>
      <p:ext uri="{BB962C8B-B14F-4D97-AF65-F5344CB8AC3E}">
        <p14:creationId xmlns:p14="http://schemas.microsoft.com/office/powerpoint/2010/main" val="12120030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C313D-1352-45E1-9B91-59FB5B7DFA16}"/>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8E658AEB-9BD9-4172-ADB7-61117F441BB0}"/>
              </a:ext>
            </a:extLst>
          </p:cNvPr>
          <p:cNvPicPr>
            <a:picLocks noGrp="1" noChangeAspect="1"/>
          </p:cNvPicPr>
          <p:nvPr>
            <p:ph idx="1"/>
          </p:nvPr>
        </p:nvPicPr>
        <p:blipFill>
          <a:blip r:embed="rId2"/>
          <a:stretch>
            <a:fillRect/>
          </a:stretch>
        </p:blipFill>
        <p:spPr>
          <a:xfrm>
            <a:off x="2209600" y="2121597"/>
            <a:ext cx="7772799" cy="3759393"/>
          </a:xfrm>
          <a:prstGeom prst="rect">
            <a:avLst/>
          </a:prstGeom>
        </p:spPr>
      </p:pic>
    </p:spTree>
    <p:extLst>
      <p:ext uri="{BB962C8B-B14F-4D97-AF65-F5344CB8AC3E}">
        <p14:creationId xmlns:p14="http://schemas.microsoft.com/office/powerpoint/2010/main" val="2070646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56509-95E2-434C-B148-E29B5FBDA0F3}"/>
              </a:ext>
            </a:extLst>
          </p:cNvPr>
          <p:cNvSpPr>
            <a:spLocks noGrp="1"/>
          </p:cNvSpPr>
          <p:nvPr>
            <p:ph type="title"/>
          </p:nvPr>
        </p:nvSpPr>
        <p:spPr/>
        <p:txBody>
          <a:bodyPr/>
          <a:lstStyle/>
          <a:p>
            <a:r>
              <a:rPr lang="en-US" dirty="0"/>
              <a:t>Voice over script</a:t>
            </a:r>
            <a:endParaRPr lang="en-IN" dirty="0"/>
          </a:p>
        </p:txBody>
      </p:sp>
      <p:sp>
        <p:nvSpPr>
          <p:cNvPr id="3" name="Content Placeholder 2">
            <a:extLst>
              <a:ext uri="{FF2B5EF4-FFF2-40B4-BE49-F238E27FC236}">
                <a16:creationId xmlns:a16="http://schemas.microsoft.com/office/drawing/2014/main" id="{B1C8DCA7-E8D7-490F-8170-F9CE71EDC42E}"/>
              </a:ext>
            </a:extLst>
          </p:cNvPr>
          <p:cNvSpPr>
            <a:spLocks noGrp="1"/>
          </p:cNvSpPr>
          <p:nvPr>
            <p:ph idx="1"/>
          </p:nvPr>
        </p:nvSpPr>
        <p:spPr/>
        <p:txBody>
          <a:bodyPr/>
          <a:lstStyle/>
          <a:p>
            <a:r>
              <a:rPr lang="en-US" dirty="0"/>
              <a:t>“Artificial Intelligence is changing the way we learn, work, and create. Today, students can use AI to understand difficult concepts, analyze information, write code, create presentations, and build innovative applications. But AI learning is not just about writing prompts. It is about asking the right questions, analyzing the answers, verifying information, and using AI responsibly. The future belongs to those who learn how to work with AI</a:t>
            </a:r>
            <a:endParaRPr lang="en-IN" dirty="0"/>
          </a:p>
        </p:txBody>
      </p:sp>
    </p:spTree>
    <p:extLst>
      <p:ext uri="{BB962C8B-B14F-4D97-AF65-F5344CB8AC3E}">
        <p14:creationId xmlns:p14="http://schemas.microsoft.com/office/powerpoint/2010/main" val="3372133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A49AC-111D-413A-AAA9-49C5AE7B61EA}"/>
              </a:ext>
            </a:extLst>
          </p:cNvPr>
          <p:cNvSpPr>
            <a:spLocks noGrp="1"/>
          </p:cNvSpPr>
          <p:nvPr>
            <p:ph type="title"/>
          </p:nvPr>
        </p:nvSpPr>
        <p:spPr/>
        <p:txBody>
          <a:bodyPr/>
          <a:lstStyle/>
          <a:p>
            <a:r>
              <a:rPr lang="en-US" dirty="0"/>
              <a:t>Compare voices</a:t>
            </a:r>
            <a:endParaRPr lang="en-IN" dirty="0"/>
          </a:p>
        </p:txBody>
      </p:sp>
      <p:pic>
        <p:nvPicPr>
          <p:cNvPr id="4" name="Content Placeholder 3">
            <a:extLst>
              <a:ext uri="{FF2B5EF4-FFF2-40B4-BE49-F238E27FC236}">
                <a16:creationId xmlns:a16="http://schemas.microsoft.com/office/drawing/2014/main" id="{D18877CF-8599-4BA1-99A3-B8520934A9AF}"/>
              </a:ext>
            </a:extLst>
          </p:cNvPr>
          <p:cNvPicPr>
            <a:picLocks noGrp="1" noChangeAspect="1"/>
          </p:cNvPicPr>
          <p:nvPr>
            <p:ph idx="1"/>
          </p:nvPr>
        </p:nvPicPr>
        <p:blipFill>
          <a:blip r:embed="rId2"/>
          <a:stretch>
            <a:fillRect/>
          </a:stretch>
        </p:blipFill>
        <p:spPr>
          <a:xfrm>
            <a:off x="1263401" y="1886635"/>
            <a:ext cx="9665197" cy="4229317"/>
          </a:xfrm>
          <a:prstGeom prst="rect">
            <a:avLst/>
          </a:prstGeom>
        </p:spPr>
      </p:pic>
    </p:spTree>
    <p:extLst>
      <p:ext uri="{BB962C8B-B14F-4D97-AF65-F5344CB8AC3E}">
        <p14:creationId xmlns:p14="http://schemas.microsoft.com/office/powerpoint/2010/main" val="34933609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28905-9093-4584-8BB5-6DBF4DE6F648}"/>
              </a:ext>
            </a:extLst>
          </p:cNvPr>
          <p:cNvSpPr>
            <a:spLocks noGrp="1"/>
          </p:cNvSpPr>
          <p:nvPr>
            <p:ph type="title"/>
          </p:nvPr>
        </p:nvSpPr>
        <p:spPr/>
        <p:txBody>
          <a:bodyPr/>
          <a:lstStyle/>
          <a:p>
            <a:r>
              <a:rPr lang="en-US" dirty="0"/>
              <a:t>Product scene variation</a:t>
            </a:r>
            <a:endParaRPr lang="en-IN" dirty="0"/>
          </a:p>
        </p:txBody>
      </p:sp>
      <p:pic>
        <p:nvPicPr>
          <p:cNvPr id="4" name="Content Placeholder 3">
            <a:extLst>
              <a:ext uri="{FF2B5EF4-FFF2-40B4-BE49-F238E27FC236}">
                <a16:creationId xmlns:a16="http://schemas.microsoft.com/office/drawing/2014/main" id="{C55A76E0-C9A4-4108-AB1E-F24AD00F9517}"/>
              </a:ext>
            </a:extLst>
          </p:cNvPr>
          <p:cNvPicPr>
            <a:picLocks noGrp="1" noChangeAspect="1"/>
          </p:cNvPicPr>
          <p:nvPr>
            <p:ph idx="1"/>
          </p:nvPr>
        </p:nvPicPr>
        <p:blipFill>
          <a:blip r:embed="rId2"/>
          <a:stretch>
            <a:fillRect/>
          </a:stretch>
        </p:blipFill>
        <p:spPr>
          <a:xfrm>
            <a:off x="1747769" y="1825625"/>
            <a:ext cx="8696461" cy="4351338"/>
          </a:xfrm>
          <a:prstGeom prst="rect">
            <a:avLst/>
          </a:prstGeom>
        </p:spPr>
      </p:pic>
    </p:spTree>
    <p:extLst>
      <p:ext uri="{BB962C8B-B14F-4D97-AF65-F5344CB8AC3E}">
        <p14:creationId xmlns:p14="http://schemas.microsoft.com/office/powerpoint/2010/main" val="23406073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1BFED-BC94-416D-80C4-A541EE4D333F}"/>
              </a:ext>
            </a:extLst>
          </p:cNvPr>
          <p:cNvSpPr>
            <a:spLocks noGrp="1"/>
          </p:cNvSpPr>
          <p:nvPr>
            <p:ph type="title"/>
          </p:nvPr>
        </p:nvSpPr>
        <p:spPr/>
        <p:txBody>
          <a:bodyPr/>
          <a:lstStyle/>
          <a:p>
            <a:r>
              <a:rPr lang="en-US" dirty="0"/>
              <a:t>Text summarizer</a:t>
            </a:r>
            <a:endParaRPr lang="en-IN" dirty="0"/>
          </a:p>
        </p:txBody>
      </p:sp>
      <p:sp>
        <p:nvSpPr>
          <p:cNvPr id="3" name="Content Placeholder 2">
            <a:extLst>
              <a:ext uri="{FF2B5EF4-FFF2-40B4-BE49-F238E27FC236}">
                <a16:creationId xmlns:a16="http://schemas.microsoft.com/office/drawing/2014/main" id="{7CC30FEF-26D4-4DCA-BCEC-ECF425533528}"/>
              </a:ext>
            </a:extLst>
          </p:cNvPr>
          <p:cNvSpPr>
            <a:spLocks noGrp="1"/>
          </p:cNvSpPr>
          <p:nvPr>
            <p:ph idx="1"/>
          </p:nvPr>
        </p:nvSpPr>
        <p:spPr/>
        <p:txBody>
          <a:bodyPr/>
          <a:lstStyle/>
          <a:p>
            <a:r>
              <a:rPr lang="en-US" dirty="0">
                <a:hlinkClick r:id="rId2"/>
              </a:rPr>
              <a:t>AI Summarizer - Free, Fast, and Ad-Free Summarizing Tool</a:t>
            </a:r>
            <a:endParaRPr lang="en-US" dirty="0"/>
          </a:p>
          <a:p>
            <a:endParaRPr lang="en-US" dirty="0"/>
          </a:p>
          <a:p>
            <a:r>
              <a:rPr lang="en-IN" dirty="0">
                <a:hlinkClick r:id="rId2"/>
              </a:rPr>
              <a:t>https://www.scribbr.com/text-summarizer/</a:t>
            </a:r>
            <a:endParaRPr lang="en-IN" dirty="0"/>
          </a:p>
          <a:p>
            <a:endParaRPr lang="en-US" dirty="0"/>
          </a:p>
          <a:p>
            <a:endParaRPr lang="en-IN" dirty="0"/>
          </a:p>
        </p:txBody>
      </p:sp>
    </p:spTree>
    <p:extLst>
      <p:ext uri="{BB962C8B-B14F-4D97-AF65-F5344CB8AC3E}">
        <p14:creationId xmlns:p14="http://schemas.microsoft.com/office/powerpoint/2010/main" val="14679116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1CA38-3209-40A8-9BDB-E4A86C89FE53}"/>
              </a:ext>
            </a:extLst>
          </p:cNvPr>
          <p:cNvSpPr>
            <a:spLocks noGrp="1"/>
          </p:cNvSpPr>
          <p:nvPr>
            <p:ph type="title"/>
          </p:nvPr>
        </p:nvSpPr>
        <p:spPr/>
        <p:txBody>
          <a:bodyPr/>
          <a:lstStyle/>
          <a:p>
            <a:r>
              <a:rPr lang="en-US" dirty="0"/>
              <a:t>Humanize ai</a:t>
            </a:r>
            <a:endParaRPr lang="en-IN" dirty="0"/>
          </a:p>
        </p:txBody>
      </p:sp>
      <p:sp>
        <p:nvSpPr>
          <p:cNvPr id="3" name="Content Placeholder 2">
            <a:extLst>
              <a:ext uri="{FF2B5EF4-FFF2-40B4-BE49-F238E27FC236}">
                <a16:creationId xmlns:a16="http://schemas.microsoft.com/office/drawing/2014/main" id="{A0A74063-1E45-44D9-9C57-2A73D3299FE0}"/>
              </a:ext>
            </a:extLst>
          </p:cNvPr>
          <p:cNvSpPr>
            <a:spLocks noGrp="1"/>
          </p:cNvSpPr>
          <p:nvPr>
            <p:ph idx="1"/>
          </p:nvPr>
        </p:nvSpPr>
        <p:spPr/>
        <p:txBody>
          <a:bodyPr/>
          <a:lstStyle/>
          <a:p>
            <a:r>
              <a:rPr lang="en-IN" dirty="0">
                <a:hlinkClick r:id="rId2"/>
              </a:rPr>
              <a:t>https://www.scribbr.com/humanize-ai/</a:t>
            </a:r>
            <a:endParaRPr lang="en-IN" dirty="0"/>
          </a:p>
          <a:p>
            <a:endParaRPr lang="en-US" dirty="0"/>
          </a:p>
          <a:p>
            <a:endParaRPr lang="en-IN" dirty="0"/>
          </a:p>
        </p:txBody>
      </p:sp>
    </p:spTree>
    <p:extLst>
      <p:ext uri="{BB962C8B-B14F-4D97-AF65-F5344CB8AC3E}">
        <p14:creationId xmlns:p14="http://schemas.microsoft.com/office/powerpoint/2010/main" val="35332593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42AA1-AB7B-4E9A-BBDD-DCC2787A06C4}"/>
              </a:ext>
            </a:extLst>
          </p:cNvPr>
          <p:cNvSpPr>
            <a:spLocks noGrp="1"/>
          </p:cNvSpPr>
          <p:nvPr>
            <p:ph type="title"/>
          </p:nvPr>
        </p:nvSpPr>
        <p:spPr/>
        <p:txBody>
          <a:bodyPr/>
          <a:lstStyle/>
          <a:p>
            <a:r>
              <a:rPr lang="en-US" dirty="0"/>
              <a:t>Ai video generator</a:t>
            </a:r>
            <a:endParaRPr lang="en-IN" dirty="0"/>
          </a:p>
        </p:txBody>
      </p:sp>
      <p:sp>
        <p:nvSpPr>
          <p:cNvPr id="3" name="Content Placeholder 2">
            <a:extLst>
              <a:ext uri="{FF2B5EF4-FFF2-40B4-BE49-F238E27FC236}">
                <a16:creationId xmlns:a16="http://schemas.microsoft.com/office/drawing/2014/main" id="{31E144CD-681A-4322-9E82-61C6FF68AB91}"/>
              </a:ext>
            </a:extLst>
          </p:cNvPr>
          <p:cNvSpPr>
            <a:spLocks noGrp="1"/>
          </p:cNvSpPr>
          <p:nvPr>
            <p:ph idx="1"/>
          </p:nvPr>
        </p:nvSpPr>
        <p:spPr/>
        <p:txBody>
          <a:bodyPr/>
          <a:lstStyle/>
          <a:p>
            <a:r>
              <a:rPr lang="en-IN" dirty="0" err="1">
                <a:hlinkClick r:id="rId2"/>
              </a:rPr>
              <a:t>Synthesia</a:t>
            </a:r>
            <a:r>
              <a:rPr lang="en-IN" dirty="0">
                <a:hlinkClick r:id="rId2"/>
              </a:rPr>
              <a:t>: #1 AI Video Platform for Business</a:t>
            </a:r>
            <a:endParaRPr lang="en-IN" dirty="0"/>
          </a:p>
          <a:p>
            <a:endParaRPr lang="en-US" dirty="0"/>
          </a:p>
          <a:p>
            <a:r>
              <a:rPr lang="en-IN" dirty="0">
                <a:hlinkClick r:id="rId2"/>
              </a:rPr>
              <a:t>https://www.synthesia.io/</a:t>
            </a:r>
            <a:endParaRPr lang="en-IN" dirty="0"/>
          </a:p>
          <a:p>
            <a:endParaRPr lang="en-US" dirty="0"/>
          </a:p>
          <a:p>
            <a:endParaRPr lang="en-US" dirty="0"/>
          </a:p>
          <a:p>
            <a:endParaRPr lang="en-IN" dirty="0"/>
          </a:p>
        </p:txBody>
      </p:sp>
    </p:spTree>
    <p:extLst>
      <p:ext uri="{BB962C8B-B14F-4D97-AF65-F5344CB8AC3E}">
        <p14:creationId xmlns:p14="http://schemas.microsoft.com/office/powerpoint/2010/main" val="1417276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27050-7F09-4853-AC5B-352D4EB8C155}"/>
              </a:ext>
            </a:extLst>
          </p:cNvPr>
          <p:cNvSpPr>
            <a:spLocks noGrp="1"/>
          </p:cNvSpPr>
          <p:nvPr>
            <p:ph type="title"/>
          </p:nvPr>
        </p:nvSpPr>
        <p:spPr/>
        <p:txBody>
          <a:bodyPr/>
          <a:lstStyle/>
          <a:p>
            <a:r>
              <a:rPr lang="en-US" dirty="0"/>
              <a:t>You Tube summary </a:t>
            </a:r>
            <a:endParaRPr lang="en-IN" dirty="0"/>
          </a:p>
        </p:txBody>
      </p:sp>
      <p:sp>
        <p:nvSpPr>
          <p:cNvPr id="3" name="Content Placeholder 2">
            <a:extLst>
              <a:ext uri="{FF2B5EF4-FFF2-40B4-BE49-F238E27FC236}">
                <a16:creationId xmlns:a16="http://schemas.microsoft.com/office/drawing/2014/main" id="{E1F09902-4211-4320-A8DA-A59878A4737B}"/>
              </a:ext>
            </a:extLst>
          </p:cNvPr>
          <p:cNvSpPr>
            <a:spLocks noGrp="1"/>
          </p:cNvSpPr>
          <p:nvPr>
            <p:ph idx="1"/>
          </p:nvPr>
        </p:nvSpPr>
        <p:spPr/>
        <p:txBody>
          <a:bodyPr/>
          <a:lstStyle/>
          <a:p>
            <a:r>
              <a:rPr lang="en-IN" dirty="0">
                <a:hlinkClick r:id="rId2"/>
              </a:rPr>
              <a:t>https://notegpt.io/youtube-video-summarizer</a:t>
            </a:r>
            <a:endParaRPr lang="en-IN" dirty="0"/>
          </a:p>
          <a:p>
            <a:endParaRPr lang="en-US" dirty="0"/>
          </a:p>
          <a:p>
            <a:r>
              <a:rPr lang="en-US" dirty="0">
                <a:hlinkClick r:id="rId2"/>
              </a:rPr>
              <a:t>YouTube Video Summarizer with AI - Online Free</a:t>
            </a:r>
            <a:endParaRPr lang="en-US" dirty="0"/>
          </a:p>
          <a:p>
            <a:endParaRPr lang="en-US" dirty="0"/>
          </a:p>
          <a:p>
            <a:endParaRPr lang="en-IN" dirty="0"/>
          </a:p>
        </p:txBody>
      </p:sp>
    </p:spTree>
    <p:extLst>
      <p:ext uri="{BB962C8B-B14F-4D97-AF65-F5344CB8AC3E}">
        <p14:creationId xmlns:p14="http://schemas.microsoft.com/office/powerpoint/2010/main" val="30276179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40AF1-FD01-421F-BF98-EB1F0F3A3220}"/>
              </a:ext>
            </a:extLst>
          </p:cNvPr>
          <p:cNvSpPr>
            <a:spLocks noGrp="1"/>
          </p:cNvSpPr>
          <p:nvPr>
            <p:ph type="title"/>
          </p:nvPr>
        </p:nvSpPr>
        <p:spPr/>
        <p:txBody>
          <a:bodyPr/>
          <a:lstStyle/>
          <a:p>
            <a:r>
              <a:rPr lang="en-US" dirty="0"/>
              <a:t>Text to </a:t>
            </a:r>
            <a:r>
              <a:rPr lang="en-US" dirty="0" err="1"/>
              <a:t>sql</a:t>
            </a:r>
            <a:r>
              <a:rPr lang="en-US" dirty="0"/>
              <a:t> commands</a:t>
            </a:r>
            <a:endParaRPr lang="en-IN" dirty="0"/>
          </a:p>
        </p:txBody>
      </p:sp>
      <p:sp>
        <p:nvSpPr>
          <p:cNvPr id="3" name="Content Placeholder 2">
            <a:extLst>
              <a:ext uri="{FF2B5EF4-FFF2-40B4-BE49-F238E27FC236}">
                <a16:creationId xmlns:a16="http://schemas.microsoft.com/office/drawing/2014/main" id="{9410865C-FF67-495E-B839-FDFBBCFF5B9D}"/>
              </a:ext>
            </a:extLst>
          </p:cNvPr>
          <p:cNvSpPr>
            <a:spLocks noGrp="1"/>
          </p:cNvSpPr>
          <p:nvPr>
            <p:ph idx="1"/>
          </p:nvPr>
        </p:nvSpPr>
        <p:spPr/>
        <p:txBody>
          <a:bodyPr/>
          <a:lstStyle/>
          <a:p>
            <a:r>
              <a:rPr lang="en-US" dirty="0">
                <a:hlinkClick r:id="rId2"/>
              </a:rPr>
              <a:t>Free Text to SQL Converter - AI SQL Query Generator</a:t>
            </a:r>
            <a:endParaRPr lang="en-US" dirty="0"/>
          </a:p>
          <a:p>
            <a:endParaRPr lang="en-US" dirty="0"/>
          </a:p>
          <a:p>
            <a:r>
              <a:rPr lang="en-IN" dirty="0">
                <a:hlinkClick r:id="rId2"/>
              </a:rPr>
              <a:t>https://aiven.io/tools/text-to-sql</a:t>
            </a:r>
            <a:endParaRPr lang="en-IN" dirty="0"/>
          </a:p>
          <a:p>
            <a:endParaRPr lang="en-US" dirty="0"/>
          </a:p>
          <a:p>
            <a:endParaRPr lang="en-IN" dirty="0"/>
          </a:p>
        </p:txBody>
      </p:sp>
    </p:spTree>
    <p:extLst>
      <p:ext uri="{BB962C8B-B14F-4D97-AF65-F5344CB8AC3E}">
        <p14:creationId xmlns:p14="http://schemas.microsoft.com/office/powerpoint/2010/main" val="22688249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7623E-FF7C-4822-B1FB-9D807B6F5546}"/>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C3088046-AFDA-4D32-ABA3-AA6B5980D717}"/>
              </a:ext>
            </a:extLst>
          </p:cNvPr>
          <p:cNvPicPr>
            <a:picLocks noGrp="1" noChangeAspect="1"/>
          </p:cNvPicPr>
          <p:nvPr>
            <p:ph idx="1"/>
          </p:nvPr>
        </p:nvPicPr>
        <p:blipFill>
          <a:blip r:embed="rId2"/>
          <a:stretch>
            <a:fillRect/>
          </a:stretch>
        </p:blipFill>
        <p:spPr>
          <a:xfrm>
            <a:off x="0" y="1404257"/>
            <a:ext cx="11895364" cy="4523014"/>
          </a:xfrm>
          <a:prstGeom prst="rect">
            <a:avLst/>
          </a:prstGeom>
        </p:spPr>
      </p:pic>
    </p:spTree>
    <p:extLst>
      <p:ext uri="{BB962C8B-B14F-4D97-AF65-F5344CB8AC3E}">
        <p14:creationId xmlns:p14="http://schemas.microsoft.com/office/powerpoint/2010/main" val="14025442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A4D0-FAAA-4D30-A24B-F3D322BA85FD}"/>
              </a:ext>
            </a:extLst>
          </p:cNvPr>
          <p:cNvSpPr>
            <a:spLocks noGrp="1"/>
          </p:cNvSpPr>
          <p:nvPr>
            <p:ph type="title"/>
          </p:nvPr>
        </p:nvSpPr>
        <p:spPr/>
        <p:txBody>
          <a:bodyPr/>
          <a:lstStyle/>
          <a:p>
            <a:r>
              <a:rPr lang="en-US" dirty="0"/>
              <a:t>Mathematical /science Tool</a:t>
            </a:r>
            <a:endParaRPr lang="en-IN" dirty="0"/>
          </a:p>
        </p:txBody>
      </p:sp>
      <p:sp>
        <p:nvSpPr>
          <p:cNvPr id="3" name="Content Placeholder 2">
            <a:extLst>
              <a:ext uri="{FF2B5EF4-FFF2-40B4-BE49-F238E27FC236}">
                <a16:creationId xmlns:a16="http://schemas.microsoft.com/office/drawing/2014/main" id="{E5210A2A-4A77-4165-B8D9-CCDF3118FC0A}"/>
              </a:ext>
            </a:extLst>
          </p:cNvPr>
          <p:cNvSpPr>
            <a:spLocks noGrp="1"/>
          </p:cNvSpPr>
          <p:nvPr>
            <p:ph idx="1"/>
          </p:nvPr>
        </p:nvSpPr>
        <p:spPr/>
        <p:txBody>
          <a:bodyPr/>
          <a:lstStyle/>
          <a:p>
            <a:r>
              <a:rPr lang="en-IN" dirty="0" err="1">
                <a:hlinkClick r:id="rId2"/>
              </a:rPr>
              <a:t>Wolfram|Alpha</a:t>
            </a:r>
            <a:r>
              <a:rPr lang="en-IN" dirty="0">
                <a:hlinkClick r:id="rId2"/>
              </a:rPr>
              <a:t>: Computational Intelligence</a:t>
            </a:r>
            <a:endParaRPr lang="en-IN" dirty="0"/>
          </a:p>
          <a:p>
            <a:endParaRPr lang="en-US" dirty="0"/>
          </a:p>
          <a:p>
            <a:r>
              <a:rPr lang="en-IN" dirty="0">
                <a:hlinkClick r:id="rId2"/>
              </a:rPr>
              <a:t>https://www.wolframalpha.com/</a:t>
            </a:r>
            <a:endParaRPr lang="en-IN" dirty="0"/>
          </a:p>
          <a:p>
            <a:endParaRPr lang="en-US" dirty="0"/>
          </a:p>
          <a:p>
            <a:endParaRPr lang="en-IN" dirty="0"/>
          </a:p>
        </p:txBody>
      </p:sp>
    </p:spTree>
    <p:extLst>
      <p:ext uri="{BB962C8B-B14F-4D97-AF65-F5344CB8AC3E}">
        <p14:creationId xmlns:p14="http://schemas.microsoft.com/office/powerpoint/2010/main" val="22114215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BCB7-E100-4033-98B8-5387AE5E3BFB}"/>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B27E494F-1023-47E1-B8C6-F9B054028D0A}"/>
              </a:ext>
            </a:extLst>
          </p:cNvPr>
          <p:cNvPicPr>
            <a:picLocks noGrp="1" noChangeAspect="1"/>
          </p:cNvPicPr>
          <p:nvPr>
            <p:ph idx="1"/>
          </p:nvPr>
        </p:nvPicPr>
        <p:blipFill>
          <a:blip r:embed="rId2"/>
          <a:stretch>
            <a:fillRect/>
          </a:stretch>
        </p:blipFill>
        <p:spPr>
          <a:xfrm>
            <a:off x="3035142" y="1997766"/>
            <a:ext cx="6121715" cy="4007056"/>
          </a:xfrm>
          <a:prstGeom prst="rect">
            <a:avLst/>
          </a:prstGeom>
        </p:spPr>
      </p:pic>
    </p:spTree>
    <p:extLst>
      <p:ext uri="{BB962C8B-B14F-4D97-AF65-F5344CB8AC3E}">
        <p14:creationId xmlns:p14="http://schemas.microsoft.com/office/powerpoint/2010/main" val="14176862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8A9E4-2E55-4808-BB4C-E0F42CE0AEBF}"/>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A76D6513-0959-4273-8C18-F7175CF4647F}"/>
              </a:ext>
            </a:extLst>
          </p:cNvPr>
          <p:cNvPicPr>
            <a:picLocks noGrp="1" noChangeAspect="1"/>
          </p:cNvPicPr>
          <p:nvPr>
            <p:ph idx="1"/>
          </p:nvPr>
        </p:nvPicPr>
        <p:blipFill>
          <a:blip r:embed="rId2"/>
          <a:stretch>
            <a:fillRect/>
          </a:stretch>
        </p:blipFill>
        <p:spPr>
          <a:xfrm>
            <a:off x="3198895" y="1825625"/>
            <a:ext cx="5794209" cy="4351338"/>
          </a:xfrm>
          <a:prstGeom prst="rect">
            <a:avLst/>
          </a:prstGeom>
        </p:spPr>
      </p:pic>
    </p:spTree>
    <p:extLst>
      <p:ext uri="{BB962C8B-B14F-4D97-AF65-F5344CB8AC3E}">
        <p14:creationId xmlns:p14="http://schemas.microsoft.com/office/powerpoint/2010/main" val="37363305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A21F4-5103-4E96-AA33-2F4D1FE6BEB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81072E-895F-49B2-A1DF-8F4AD0EE8FE4}"/>
              </a:ext>
            </a:extLst>
          </p:cNvPr>
          <p:cNvSpPr>
            <a:spLocks noGrp="1"/>
          </p:cNvSpPr>
          <p:nvPr>
            <p:ph idx="1"/>
          </p:nvPr>
        </p:nvSpPr>
        <p:spPr/>
        <p:txBody>
          <a:bodyPr/>
          <a:lstStyle/>
          <a:p>
            <a:r>
              <a:rPr lang="en-US" dirty="0"/>
              <a:t>plot x^3 + 2x^2 + 5x and its derivative</a:t>
            </a:r>
          </a:p>
          <a:p>
            <a:r>
              <a:rPr lang="en-US" dirty="0"/>
              <a:t>Observations</a:t>
            </a:r>
          </a:p>
          <a:p>
            <a:r>
              <a:rPr lang="en-US" dirty="0"/>
              <a:t>What is the original curve?</a:t>
            </a:r>
          </a:p>
          <a:p>
            <a:r>
              <a:rPr lang="en-US" dirty="0"/>
              <a:t>What does the derivative represent?</a:t>
            </a:r>
          </a:p>
          <a:p>
            <a:r>
              <a:rPr lang="en-US" dirty="0"/>
              <a:t>How does the slope change at different values of x?</a:t>
            </a:r>
          </a:p>
          <a:p>
            <a:r>
              <a:rPr lang="en-US" dirty="0"/>
              <a:t>Where does the function increase or decrease?</a:t>
            </a:r>
            <a:endParaRPr lang="en-IN" dirty="0"/>
          </a:p>
        </p:txBody>
      </p:sp>
    </p:spTree>
    <p:extLst>
      <p:ext uri="{BB962C8B-B14F-4D97-AF65-F5344CB8AC3E}">
        <p14:creationId xmlns:p14="http://schemas.microsoft.com/office/powerpoint/2010/main" val="13002137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461AE-0291-4408-A81E-B69AC366ABF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7351764-A638-4F20-B738-8F92930613C8}"/>
              </a:ext>
            </a:extLst>
          </p:cNvPr>
          <p:cNvSpPr>
            <a:spLocks noGrp="1"/>
          </p:cNvSpPr>
          <p:nvPr>
            <p:ph idx="1"/>
          </p:nvPr>
        </p:nvSpPr>
        <p:spPr/>
        <p:txBody>
          <a:bodyPr/>
          <a:lstStyle/>
          <a:p>
            <a:r>
              <a:rPr lang="en-US" b="1" dirty="0"/>
              <a:t>Definite Integration — Area Under a Curve</a:t>
            </a:r>
          </a:p>
          <a:p>
            <a:r>
              <a:rPr lang="en-US" dirty="0"/>
              <a:t>Engineering mathematics topic: Integral calculus</a:t>
            </a:r>
          </a:p>
          <a:p>
            <a:endParaRPr lang="en-IN" dirty="0"/>
          </a:p>
        </p:txBody>
      </p:sp>
      <p:pic>
        <p:nvPicPr>
          <p:cNvPr id="4" name="Picture 3">
            <a:extLst>
              <a:ext uri="{FF2B5EF4-FFF2-40B4-BE49-F238E27FC236}">
                <a16:creationId xmlns:a16="http://schemas.microsoft.com/office/drawing/2014/main" id="{C0AE1642-A79A-486B-B566-B28D02B6E408}"/>
              </a:ext>
            </a:extLst>
          </p:cNvPr>
          <p:cNvPicPr>
            <a:picLocks noChangeAspect="1"/>
          </p:cNvPicPr>
          <p:nvPr/>
        </p:nvPicPr>
        <p:blipFill>
          <a:blip r:embed="rId2"/>
          <a:stretch>
            <a:fillRect/>
          </a:stretch>
        </p:blipFill>
        <p:spPr>
          <a:xfrm>
            <a:off x="2090058" y="2933205"/>
            <a:ext cx="6776356" cy="3559669"/>
          </a:xfrm>
          <a:prstGeom prst="rect">
            <a:avLst/>
          </a:prstGeom>
        </p:spPr>
      </p:pic>
    </p:spTree>
    <p:extLst>
      <p:ext uri="{BB962C8B-B14F-4D97-AF65-F5344CB8AC3E}">
        <p14:creationId xmlns:p14="http://schemas.microsoft.com/office/powerpoint/2010/main" val="35947105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B3F50-6ADB-4599-B409-265CEE0AC3F6}"/>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A9645725-7DB2-4DF9-A44F-F76EE920116B}"/>
              </a:ext>
            </a:extLst>
          </p:cNvPr>
          <p:cNvPicPr>
            <a:picLocks noGrp="1" noChangeAspect="1"/>
          </p:cNvPicPr>
          <p:nvPr>
            <p:ph idx="1"/>
          </p:nvPr>
        </p:nvPicPr>
        <p:blipFill>
          <a:blip r:embed="rId2"/>
          <a:stretch>
            <a:fillRect/>
          </a:stretch>
        </p:blipFill>
        <p:spPr>
          <a:xfrm>
            <a:off x="996043" y="585044"/>
            <a:ext cx="9960428" cy="5687912"/>
          </a:xfrm>
          <a:prstGeom prst="rect">
            <a:avLst/>
          </a:prstGeom>
        </p:spPr>
      </p:pic>
    </p:spTree>
    <p:extLst>
      <p:ext uri="{BB962C8B-B14F-4D97-AF65-F5344CB8AC3E}">
        <p14:creationId xmlns:p14="http://schemas.microsoft.com/office/powerpoint/2010/main" val="6857200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87558-32F4-4793-99D0-F1E60A4547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AD6C74F-EE27-4781-99A2-1865FDE1C8A9}"/>
              </a:ext>
            </a:extLst>
          </p:cNvPr>
          <p:cNvSpPr>
            <a:spLocks noGrp="1"/>
          </p:cNvSpPr>
          <p:nvPr>
            <p:ph idx="1"/>
          </p:nvPr>
        </p:nvSpPr>
        <p:spPr/>
        <p:txBody>
          <a:bodyPr/>
          <a:lstStyle/>
          <a:p>
            <a:r>
              <a:rPr lang="en-US" b="1" dirty="0"/>
              <a:t>Unit Conversion and Physics</a:t>
            </a:r>
          </a:p>
          <a:p>
            <a:r>
              <a:rPr lang="en-US" dirty="0"/>
              <a:t>Engineering mathematics topic: Applied mathematics and physics</a:t>
            </a:r>
          </a:p>
          <a:p>
            <a:endParaRPr lang="en-IN" dirty="0"/>
          </a:p>
        </p:txBody>
      </p:sp>
      <p:pic>
        <p:nvPicPr>
          <p:cNvPr id="4" name="Picture 3">
            <a:extLst>
              <a:ext uri="{FF2B5EF4-FFF2-40B4-BE49-F238E27FC236}">
                <a16:creationId xmlns:a16="http://schemas.microsoft.com/office/drawing/2014/main" id="{5CA9DDC5-9018-493D-9158-EF242B42B981}"/>
              </a:ext>
            </a:extLst>
          </p:cNvPr>
          <p:cNvPicPr>
            <a:picLocks noChangeAspect="1"/>
          </p:cNvPicPr>
          <p:nvPr/>
        </p:nvPicPr>
        <p:blipFill>
          <a:blip r:embed="rId2"/>
          <a:stretch>
            <a:fillRect/>
          </a:stretch>
        </p:blipFill>
        <p:spPr>
          <a:xfrm>
            <a:off x="3338655" y="3110093"/>
            <a:ext cx="6425830" cy="3558727"/>
          </a:xfrm>
          <a:prstGeom prst="rect">
            <a:avLst/>
          </a:prstGeom>
        </p:spPr>
      </p:pic>
    </p:spTree>
    <p:extLst>
      <p:ext uri="{BB962C8B-B14F-4D97-AF65-F5344CB8AC3E}">
        <p14:creationId xmlns:p14="http://schemas.microsoft.com/office/powerpoint/2010/main" val="4718446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50844-0FBC-4EAF-8536-900C4DD9909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56CBF9E-C67E-4FCE-B8AF-0284C2BBF13D}"/>
              </a:ext>
            </a:extLst>
          </p:cNvPr>
          <p:cNvSpPr>
            <a:spLocks noGrp="1"/>
          </p:cNvSpPr>
          <p:nvPr>
            <p:ph idx="1"/>
          </p:nvPr>
        </p:nvSpPr>
        <p:spPr/>
        <p:txBody>
          <a:bodyPr/>
          <a:lstStyle/>
          <a:p>
            <a:r>
              <a:rPr lang="en-US" dirty="0"/>
              <a:t>Challenge</a:t>
            </a:r>
          </a:p>
          <a:p>
            <a:r>
              <a:rPr lang="en-US" dirty="0"/>
              <a:t>calculate:</a:t>
            </a:r>
          </a:p>
          <a:p>
            <a:r>
              <a:rPr lang="en-US" dirty="0"/>
              <a:t>90 km/h in m/s</a:t>
            </a:r>
          </a:p>
          <a:p>
            <a:r>
              <a:rPr lang="en-US" dirty="0"/>
              <a:t>5 m/s in km/h</a:t>
            </a:r>
          </a:p>
          <a:p>
            <a:r>
              <a:rPr lang="en-US" dirty="0"/>
              <a:t>1000 joules in kilojoules</a:t>
            </a:r>
            <a:endParaRPr lang="en-IN" dirty="0"/>
          </a:p>
        </p:txBody>
      </p:sp>
    </p:spTree>
    <p:extLst>
      <p:ext uri="{BB962C8B-B14F-4D97-AF65-F5344CB8AC3E}">
        <p14:creationId xmlns:p14="http://schemas.microsoft.com/office/powerpoint/2010/main" val="37159860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EFF2C-0F3E-440D-B8FD-5D938FB5CBD7}"/>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3AFD2E65-836C-4472-BA05-7F7723664CE4}"/>
              </a:ext>
            </a:extLst>
          </p:cNvPr>
          <p:cNvPicPr>
            <a:picLocks noGrp="1" noChangeAspect="1"/>
          </p:cNvPicPr>
          <p:nvPr>
            <p:ph idx="1"/>
          </p:nvPr>
        </p:nvPicPr>
        <p:blipFill>
          <a:blip r:embed="rId2"/>
          <a:stretch>
            <a:fillRect/>
          </a:stretch>
        </p:blipFill>
        <p:spPr>
          <a:xfrm>
            <a:off x="481693" y="592630"/>
            <a:ext cx="11062607" cy="5759786"/>
          </a:xfrm>
          <a:prstGeom prst="rect">
            <a:avLst/>
          </a:prstGeom>
        </p:spPr>
      </p:pic>
    </p:spTree>
    <p:extLst>
      <p:ext uri="{BB962C8B-B14F-4D97-AF65-F5344CB8AC3E}">
        <p14:creationId xmlns:p14="http://schemas.microsoft.com/office/powerpoint/2010/main" val="21083939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0948F-F84E-4A10-9772-93C29D8200CF}"/>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73D9A3AD-1FB1-42CF-9D46-BA32B3955546}"/>
              </a:ext>
            </a:extLst>
          </p:cNvPr>
          <p:cNvPicPr>
            <a:picLocks noGrp="1" noChangeAspect="1"/>
          </p:cNvPicPr>
          <p:nvPr>
            <p:ph idx="1"/>
          </p:nvPr>
        </p:nvPicPr>
        <p:blipFill>
          <a:blip r:embed="rId2"/>
          <a:stretch>
            <a:fillRect/>
          </a:stretch>
        </p:blipFill>
        <p:spPr>
          <a:xfrm>
            <a:off x="1747567" y="1934936"/>
            <a:ext cx="8779432" cy="4171950"/>
          </a:xfrm>
          <a:prstGeom prst="rect">
            <a:avLst/>
          </a:prstGeom>
        </p:spPr>
      </p:pic>
    </p:spTree>
    <p:extLst>
      <p:ext uri="{BB962C8B-B14F-4D97-AF65-F5344CB8AC3E}">
        <p14:creationId xmlns:p14="http://schemas.microsoft.com/office/powerpoint/2010/main" val="22307141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8030B-8949-41E9-9775-7194983F260E}"/>
              </a:ext>
            </a:extLst>
          </p:cNvPr>
          <p:cNvSpPr>
            <a:spLocks noGrp="1"/>
          </p:cNvSpPr>
          <p:nvPr>
            <p:ph type="title"/>
          </p:nvPr>
        </p:nvSpPr>
        <p:spPr/>
        <p:txBody>
          <a:bodyPr/>
          <a:lstStyle/>
          <a:p>
            <a:r>
              <a:rPr lang="en-US" dirty="0"/>
              <a:t>Mathematical/Science Tool</a:t>
            </a:r>
            <a:endParaRPr lang="en-IN" dirty="0"/>
          </a:p>
        </p:txBody>
      </p:sp>
      <p:sp>
        <p:nvSpPr>
          <p:cNvPr id="3" name="Content Placeholder 2">
            <a:extLst>
              <a:ext uri="{FF2B5EF4-FFF2-40B4-BE49-F238E27FC236}">
                <a16:creationId xmlns:a16="http://schemas.microsoft.com/office/drawing/2014/main" id="{D63D1454-EA53-4FA8-B979-93C0CEE4C810}"/>
              </a:ext>
            </a:extLst>
          </p:cNvPr>
          <p:cNvSpPr>
            <a:spLocks noGrp="1"/>
          </p:cNvSpPr>
          <p:nvPr>
            <p:ph idx="1"/>
          </p:nvPr>
        </p:nvSpPr>
        <p:spPr/>
        <p:txBody>
          <a:bodyPr/>
          <a:lstStyle/>
          <a:p>
            <a:r>
              <a:rPr lang="en-US" dirty="0">
                <a:hlinkClick r:id="rId2"/>
              </a:rPr>
              <a:t>Math Solver - Trusted Online AI Math Calculator | </a:t>
            </a:r>
            <a:r>
              <a:rPr lang="en-US" dirty="0" err="1">
                <a:hlinkClick r:id="rId2"/>
              </a:rPr>
              <a:t>Symbolab</a:t>
            </a:r>
            <a:endParaRPr lang="en-US" dirty="0"/>
          </a:p>
          <a:p>
            <a:endParaRPr lang="en-US" dirty="0"/>
          </a:p>
          <a:p>
            <a:r>
              <a:rPr lang="en-IN" dirty="0">
                <a:hlinkClick r:id="rId2"/>
              </a:rPr>
              <a:t>https://www.symbolab.com/</a:t>
            </a:r>
            <a:endParaRPr lang="en-IN" dirty="0"/>
          </a:p>
          <a:p>
            <a:endParaRPr lang="en-US" dirty="0"/>
          </a:p>
          <a:p>
            <a:endParaRPr lang="en-IN" dirty="0"/>
          </a:p>
        </p:txBody>
      </p:sp>
    </p:spTree>
    <p:extLst>
      <p:ext uri="{BB962C8B-B14F-4D97-AF65-F5344CB8AC3E}">
        <p14:creationId xmlns:p14="http://schemas.microsoft.com/office/powerpoint/2010/main" val="12212603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7F53D-E241-4467-80F2-8A3B4ED5902E}"/>
              </a:ext>
            </a:extLst>
          </p:cNvPr>
          <p:cNvSpPr>
            <a:spLocks noGrp="1"/>
          </p:cNvSpPr>
          <p:nvPr>
            <p:ph type="title"/>
          </p:nvPr>
        </p:nvSpPr>
        <p:spPr/>
        <p:txBody>
          <a:bodyPr/>
          <a:lstStyle/>
          <a:p>
            <a:r>
              <a:rPr lang="en-US" dirty="0" err="1"/>
              <a:t>Suno</a:t>
            </a:r>
            <a:r>
              <a:rPr lang="en-US" dirty="0"/>
              <a:t>-ai music</a:t>
            </a:r>
            <a:endParaRPr lang="en-IN" dirty="0"/>
          </a:p>
        </p:txBody>
      </p:sp>
      <p:sp>
        <p:nvSpPr>
          <p:cNvPr id="3" name="Content Placeholder 2">
            <a:extLst>
              <a:ext uri="{FF2B5EF4-FFF2-40B4-BE49-F238E27FC236}">
                <a16:creationId xmlns:a16="http://schemas.microsoft.com/office/drawing/2014/main" id="{411DCC13-7404-409F-A3B1-809AAB4F29F9}"/>
              </a:ext>
            </a:extLst>
          </p:cNvPr>
          <p:cNvSpPr>
            <a:spLocks noGrp="1"/>
          </p:cNvSpPr>
          <p:nvPr>
            <p:ph idx="1"/>
          </p:nvPr>
        </p:nvSpPr>
        <p:spPr/>
        <p:txBody>
          <a:bodyPr/>
          <a:lstStyle/>
          <a:p>
            <a:r>
              <a:rPr lang="en-IN" dirty="0" err="1">
                <a:hlinkClick r:id="rId2"/>
              </a:rPr>
              <a:t>Suno</a:t>
            </a:r>
            <a:r>
              <a:rPr lang="en-IN" dirty="0">
                <a:hlinkClick r:id="rId2"/>
              </a:rPr>
              <a:t> | AI Music Generator</a:t>
            </a:r>
            <a:endParaRPr lang="en-IN" dirty="0"/>
          </a:p>
          <a:p>
            <a:endParaRPr lang="en-US" dirty="0"/>
          </a:p>
          <a:p>
            <a:r>
              <a:rPr lang="en-IN" dirty="0">
                <a:hlinkClick r:id="rId2"/>
              </a:rPr>
              <a:t>https://suno.com/</a:t>
            </a:r>
            <a:endParaRPr lang="en-IN" dirty="0"/>
          </a:p>
          <a:p>
            <a:endParaRPr lang="en-US" dirty="0"/>
          </a:p>
          <a:p>
            <a:endParaRPr lang="en-IN" dirty="0"/>
          </a:p>
        </p:txBody>
      </p:sp>
    </p:spTree>
    <p:extLst>
      <p:ext uri="{BB962C8B-B14F-4D97-AF65-F5344CB8AC3E}">
        <p14:creationId xmlns:p14="http://schemas.microsoft.com/office/powerpoint/2010/main" val="22490744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16864-8048-4C7D-9A33-890E2C56934C}"/>
              </a:ext>
            </a:extLst>
          </p:cNvPr>
          <p:cNvSpPr>
            <a:spLocks noGrp="1"/>
          </p:cNvSpPr>
          <p:nvPr>
            <p:ph type="title"/>
          </p:nvPr>
        </p:nvSpPr>
        <p:spPr/>
        <p:txBody>
          <a:bodyPr/>
          <a:lstStyle/>
          <a:p>
            <a:r>
              <a:rPr lang="en-US" dirty="0"/>
              <a:t>AI Music generator</a:t>
            </a:r>
            <a:endParaRPr lang="en-IN" dirty="0"/>
          </a:p>
        </p:txBody>
      </p:sp>
      <p:sp>
        <p:nvSpPr>
          <p:cNvPr id="3" name="Content Placeholder 2">
            <a:extLst>
              <a:ext uri="{FF2B5EF4-FFF2-40B4-BE49-F238E27FC236}">
                <a16:creationId xmlns:a16="http://schemas.microsoft.com/office/drawing/2014/main" id="{177C5621-60B9-4A36-A902-ED71409E10E9}"/>
              </a:ext>
            </a:extLst>
          </p:cNvPr>
          <p:cNvSpPr>
            <a:spLocks noGrp="1"/>
          </p:cNvSpPr>
          <p:nvPr>
            <p:ph idx="1"/>
          </p:nvPr>
        </p:nvSpPr>
        <p:spPr/>
        <p:txBody>
          <a:bodyPr/>
          <a:lstStyle/>
          <a:p>
            <a:r>
              <a:rPr lang="en-US" dirty="0">
                <a:hlinkClick r:id="rId2"/>
              </a:rPr>
              <a:t>≻ </a:t>
            </a:r>
            <a:r>
              <a:rPr lang="en-US" dirty="0" err="1">
                <a:hlinkClick r:id="rId2"/>
              </a:rPr>
              <a:t>Mubert</a:t>
            </a:r>
            <a:r>
              <a:rPr lang="en-US" dirty="0">
                <a:hlinkClick r:id="rId2"/>
              </a:rPr>
              <a:t> AI Music Generator — Royalty Free Music ✓ Best AI Music Generator</a:t>
            </a:r>
            <a:endParaRPr lang="en-US" dirty="0"/>
          </a:p>
          <a:p>
            <a:endParaRPr lang="en-US" dirty="0"/>
          </a:p>
          <a:p>
            <a:r>
              <a:rPr lang="en-US" dirty="0">
                <a:hlinkClick r:id="rId2"/>
              </a:rPr>
              <a:t>https://mubert.com/</a:t>
            </a:r>
            <a:endParaRPr lang="en-US" dirty="0"/>
          </a:p>
          <a:p>
            <a:endParaRPr lang="en-US" dirty="0"/>
          </a:p>
          <a:p>
            <a:endParaRPr lang="en-US" dirty="0"/>
          </a:p>
          <a:p>
            <a:endParaRPr lang="en-IN" dirty="0"/>
          </a:p>
        </p:txBody>
      </p:sp>
    </p:spTree>
    <p:extLst>
      <p:ext uri="{BB962C8B-B14F-4D97-AF65-F5344CB8AC3E}">
        <p14:creationId xmlns:p14="http://schemas.microsoft.com/office/powerpoint/2010/main" val="21529804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ECB6-5705-40CA-A902-4626C820D512}"/>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lstStyle/>
          <a:p>
            <a:r>
              <a:rPr lang="en-IN" dirty="0"/>
              <a:t>Effective prompt/with upfront</a:t>
            </a:r>
          </a:p>
        </p:txBody>
      </p:sp>
      <p:sp>
        <p:nvSpPr>
          <p:cNvPr id="3" name="Content Placeholder 2">
            <a:extLst>
              <a:ext uri="{FF2B5EF4-FFF2-40B4-BE49-F238E27FC236}">
                <a16:creationId xmlns:a16="http://schemas.microsoft.com/office/drawing/2014/main" id="{B9ACE37A-80DB-4603-836A-A0C20114D6E2}"/>
              </a:ext>
            </a:extLst>
          </p:cNvPr>
          <p:cNvSpPr>
            <a:spLocks noGrp="1"/>
          </p:cNvSpPr>
          <p:nvPr>
            <p:ph idx="1"/>
          </p:nvPr>
        </p:nvSpPr>
        <p:spPr/>
        <p:txBody>
          <a:bodyPr/>
          <a:lstStyle/>
          <a:p>
            <a:pPr algn="l"/>
            <a:r>
              <a:rPr lang="en-US" sz="1350" b="1" dirty="0">
                <a:latin typeface="LibreBaskerville-Bold"/>
              </a:rPr>
              <a:t>Provide Information Upfront</a:t>
            </a:r>
            <a:r>
              <a:rPr lang="en-US" sz="1350" dirty="0">
                <a:latin typeface="LibreBaskerville-Regular"/>
              </a:rPr>
              <a:t>: Including necessary and helpful information at the beginning of your prompt can significantly improve the output. </a:t>
            </a:r>
          </a:p>
          <a:p>
            <a:pPr algn="l"/>
            <a:r>
              <a:rPr lang="en-IN" sz="1350" dirty="0">
                <a:latin typeface="LibreBaskerville-Regular"/>
              </a:rPr>
              <a:t>Without upfront information</a:t>
            </a:r>
          </a:p>
          <a:p>
            <a:pPr algn="l"/>
            <a:r>
              <a:rPr lang="en-US" sz="1350" b="1" dirty="0">
                <a:latin typeface="LibreBaskerville-Bold"/>
              </a:rPr>
              <a:t>Prompt</a:t>
            </a:r>
            <a:r>
              <a:rPr lang="en-US" sz="1350" dirty="0">
                <a:latin typeface="LibreBaskerville-Regular"/>
              </a:rPr>
              <a:t>: Write a witty introduction as a speaker about me.</a:t>
            </a:r>
          </a:p>
          <a:p>
            <a:pPr algn="l"/>
            <a:r>
              <a:rPr lang="en-US" sz="1350" b="1" dirty="0">
                <a:latin typeface="LibreBaskerville-Bold"/>
              </a:rPr>
              <a:t>AI's Response</a:t>
            </a:r>
            <a:r>
              <a:rPr lang="en-US" sz="1350" dirty="0">
                <a:latin typeface="LibreBaskerville-Regular"/>
              </a:rPr>
              <a:t>: The AI gives a general introduction about itself</a:t>
            </a:r>
          </a:p>
          <a:p>
            <a:pPr algn="l"/>
            <a:r>
              <a:rPr lang="en-US" sz="1350" dirty="0">
                <a:latin typeface="LibreBaskerville-Regular"/>
              </a:rPr>
              <a:t>because it lacks personal information about the user.</a:t>
            </a:r>
          </a:p>
          <a:p>
            <a:pPr algn="l"/>
            <a:endParaRPr lang="en-US" sz="1350" dirty="0">
              <a:latin typeface="LibreBaskerville-Regular"/>
            </a:endParaRPr>
          </a:p>
          <a:p>
            <a:pPr algn="l"/>
            <a:r>
              <a:rPr lang="en-IN" sz="1350" dirty="0">
                <a:latin typeface="LibreBaskerville-Regular"/>
              </a:rPr>
              <a:t>With upfront information</a:t>
            </a:r>
          </a:p>
          <a:p>
            <a:pPr algn="l"/>
            <a:r>
              <a:rPr lang="en-US" sz="1350" b="1" dirty="0">
                <a:latin typeface="LibreBaskerville-Bold"/>
              </a:rPr>
              <a:t>Prompt</a:t>
            </a:r>
            <a:r>
              <a:rPr lang="en-US" sz="1350" dirty="0">
                <a:latin typeface="LibreBaskerville-Regular"/>
              </a:rPr>
              <a:t>: [Inserts resume information] Write a witty introduction as a speaker about me.</a:t>
            </a:r>
            <a:endParaRPr lang="en-IN" dirty="0"/>
          </a:p>
        </p:txBody>
      </p:sp>
    </p:spTree>
    <p:extLst>
      <p:ext uri="{BB962C8B-B14F-4D97-AF65-F5344CB8AC3E}">
        <p14:creationId xmlns:p14="http://schemas.microsoft.com/office/powerpoint/2010/main" val="2450544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ECB6-5705-40CA-A902-4626C820D512}"/>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lstStyle/>
          <a:p>
            <a:r>
              <a:rPr lang="en-IN" dirty="0"/>
              <a:t>Effective prompt/with upfront</a:t>
            </a:r>
          </a:p>
        </p:txBody>
      </p:sp>
      <p:sp>
        <p:nvSpPr>
          <p:cNvPr id="3" name="Content Placeholder 2">
            <a:extLst>
              <a:ext uri="{FF2B5EF4-FFF2-40B4-BE49-F238E27FC236}">
                <a16:creationId xmlns:a16="http://schemas.microsoft.com/office/drawing/2014/main" id="{B9ACE37A-80DB-4603-836A-A0C20114D6E2}"/>
              </a:ext>
            </a:extLst>
          </p:cNvPr>
          <p:cNvSpPr>
            <a:spLocks noGrp="1"/>
          </p:cNvSpPr>
          <p:nvPr>
            <p:ph idx="1"/>
          </p:nvPr>
        </p:nvSpPr>
        <p:spPr/>
        <p:txBody>
          <a:bodyPr>
            <a:normAutofit lnSpcReduction="10000"/>
          </a:bodyPr>
          <a:lstStyle/>
          <a:p>
            <a:pPr algn="l"/>
            <a:r>
              <a:rPr lang="en-IN" dirty="0">
                <a:latin typeface="LibreBaskerville-Regular"/>
              </a:rPr>
              <a:t>Summarizing an Article</a:t>
            </a:r>
          </a:p>
          <a:p>
            <a:pPr algn="l"/>
            <a:r>
              <a:rPr lang="en-IN" dirty="0">
                <a:latin typeface="LibreBaskerville-Regular"/>
              </a:rPr>
              <a:t>Without upfront information</a:t>
            </a:r>
          </a:p>
          <a:p>
            <a:pPr algn="l"/>
            <a:r>
              <a:rPr lang="en-US" b="1" dirty="0">
                <a:latin typeface="LibreBaskerville-Bold"/>
              </a:rPr>
              <a:t>Prompt</a:t>
            </a:r>
            <a:r>
              <a:rPr lang="en-US" dirty="0">
                <a:latin typeface="LibreBaskerville-Regular"/>
              </a:rPr>
              <a:t>: Summarize the article on Cricket Analytics.</a:t>
            </a:r>
          </a:p>
          <a:p>
            <a:pPr algn="l"/>
            <a:r>
              <a:rPr lang="en-US" b="1" dirty="0">
                <a:latin typeface="LibreBaskerville-Bold"/>
              </a:rPr>
              <a:t>AI's Response</a:t>
            </a:r>
            <a:r>
              <a:rPr lang="en-US" dirty="0">
                <a:latin typeface="LibreBaskerville-Regular"/>
              </a:rPr>
              <a:t>: The AI won't be able to generate a summary</a:t>
            </a:r>
          </a:p>
          <a:p>
            <a:pPr algn="l"/>
            <a:r>
              <a:rPr lang="en-US" dirty="0">
                <a:latin typeface="LibreBaskerville-Regular"/>
              </a:rPr>
              <a:t>because it doesn't know the content of the specific article you're</a:t>
            </a:r>
            <a:r>
              <a:rPr lang="en-IN" dirty="0">
                <a:latin typeface="LibreBaskerville-Regular"/>
              </a:rPr>
              <a:t>referring to.</a:t>
            </a:r>
          </a:p>
          <a:p>
            <a:pPr algn="l"/>
            <a:endParaRPr lang="en-IN" dirty="0">
              <a:latin typeface="LibreBaskerville-Regular"/>
            </a:endParaRPr>
          </a:p>
          <a:p>
            <a:pPr algn="l"/>
            <a:r>
              <a:rPr lang="en-IN" dirty="0">
                <a:latin typeface="LibreBaskerville-Regular"/>
              </a:rPr>
              <a:t>With upfront information</a:t>
            </a:r>
          </a:p>
          <a:p>
            <a:pPr algn="l"/>
            <a:r>
              <a:rPr lang="en-IN" b="1" dirty="0">
                <a:latin typeface="LibreBaskerville-Bold"/>
              </a:rPr>
              <a:t>Prompt</a:t>
            </a:r>
            <a:r>
              <a:rPr lang="en-IN" dirty="0">
                <a:latin typeface="LibreBaskerville-Regular"/>
              </a:rPr>
              <a:t>: [Inserts article content] Summarize the above article.</a:t>
            </a:r>
            <a:endParaRPr lang="en-IN" dirty="0"/>
          </a:p>
        </p:txBody>
      </p:sp>
    </p:spTree>
    <p:extLst>
      <p:ext uri="{BB962C8B-B14F-4D97-AF65-F5344CB8AC3E}">
        <p14:creationId xmlns:p14="http://schemas.microsoft.com/office/powerpoint/2010/main" val="23194452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ECB6-5705-40CA-A902-4626C820D512}"/>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lstStyle/>
          <a:p>
            <a:r>
              <a:rPr lang="en-IN" dirty="0"/>
              <a:t>Effective prompt/with examples</a:t>
            </a:r>
          </a:p>
        </p:txBody>
      </p:sp>
      <p:sp>
        <p:nvSpPr>
          <p:cNvPr id="3" name="Content Placeholder 2">
            <a:extLst>
              <a:ext uri="{FF2B5EF4-FFF2-40B4-BE49-F238E27FC236}">
                <a16:creationId xmlns:a16="http://schemas.microsoft.com/office/drawing/2014/main" id="{B9ACE37A-80DB-4603-836A-A0C20114D6E2}"/>
              </a:ext>
            </a:extLst>
          </p:cNvPr>
          <p:cNvSpPr>
            <a:spLocks noGrp="1"/>
          </p:cNvSpPr>
          <p:nvPr>
            <p:ph idx="1"/>
          </p:nvPr>
        </p:nvSpPr>
        <p:spPr/>
        <p:txBody>
          <a:bodyPr>
            <a:normAutofit/>
          </a:bodyPr>
          <a:lstStyle/>
          <a:p>
            <a:pPr algn="l"/>
            <a:endParaRPr lang="en-US" sz="1350" dirty="0">
              <a:latin typeface="LibreBaskerville-Regular"/>
            </a:endParaRPr>
          </a:p>
          <a:p>
            <a:pPr algn="l"/>
            <a:r>
              <a:rPr lang="en-US" b="0" i="0" u="none" strike="noStrike" baseline="0" dirty="0">
                <a:latin typeface="LibreBaskerville-Regular"/>
              </a:rPr>
              <a:t>Write a Python program to calculate the factorial of a given</a:t>
            </a:r>
            <a:r>
              <a:rPr lang="en-IN" b="0" i="0" u="none" strike="noStrike" baseline="0" dirty="0">
                <a:latin typeface="LibreBaskerville-Regular"/>
              </a:rPr>
              <a:t>number.</a:t>
            </a:r>
          </a:p>
          <a:p>
            <a:pPr algn="l"/>
            <a:endParaRPr lang="en-IN" b="0" i="0" u="none" strike="noStrike" baseline="0" dirty="0">
              <a:latin typeface="LibreBaskerville-Regular"/>
            </a:endParaRPr>
          </a:p>
          <a:p>
            <a:pPr algn="l"/>
            <a:r>
              <a:rPr lang="en-US" b="0" i="0" u="none" strike="noStrike" baseline="0" dirty="0">
                <a:latin typeface="LibreBaskerville-Regular"/>
              </a:rPr>
              <a:t>Write a Python program to calculate the factorial of a given number. For example, if the input is 5,</a:t>
            </a:r>
          </a:p>
          <a:p>
            <a:pPr algn="l"/>
            <a:r>
              <a:rPr lang="en-US" b="0" i="0" u="none" strike="noStrike" baseline="0" dirty="0">
                <a:latin typeface="LibreBaskerville-Regular"/>
              </a:rPr>
              <a:t>the output should be 120.</a:t>
            </a:r>
          </a:p>
          <a:p>
            <a:pPr algn="l"/>
            <a:endParaRPr lang="en-US" sz="1350" dirty="0">
              <a:latin typeface="LibreBaskerville-Regular"/>
            </a:endParaRPr>
          </a:p>
        </p:txBody>
      </p:sp>
    </p:spTree>
    <p:extLst>
      <p:ext uri="{BB962C8B-B14F-4D97-AF65-F5344CB8AC3E}">
        <p14:creationId xmlns:p14="http://schemas.microsoft.com/office/powerpoint/2010/main" val="22473274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ECB6-5705-40CA-A902-4626C820D512}"/>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lstStyle/>
          <a:p>
            <a:pPr algn="l"/>
            <a:r>
              <a:rPr lang="en-IN" dirty="0"/>
              <a:t>Effective prompt/response length</a:t>
            </a:r>
          </a:p>
        </p:txBody>
      </p:sp>
      <p:sp>
        <p:nvSpPr>
          <p:cNvPr id="3" name="Content Placeholder 2">
            <a:extLst>
              <a:ext uri="{FF2B5EF4-FFF2-40B4-BE49-F238E27FC236}">
                <a16:creationId xmlns:a16="http://schemas.microsoft.com/office/drawing/2014/main" id="{B9ACE37A-80DB-4603-836A-A0C20114D6E2}"/>
              </a:ext>
            </a:extLst>
          </p:cNvPr>
          <p:cNvSpPr>
            <a:spLocks noGrp="1"/>
          </p:cNvSpPr>
          <p:nvPr>
            <p:ph idx="1"/>
          </p:nvPr>
        </p:nvSpPr>
        <p:spPr/>
        <p:txBody>
          <a:bodyPr>
            <a:normAutofit fontScale="40000" lnSpcReduction="20000"/>
          </a:bodyPr>
          <a:lstStyle/>
          <a:p>
            <a:pPr algn="l"/>
            <a:r>
              <a:rPr lang="en-US" sz="6000" dirty="0">
                <a:latin typeface="LibreBaskerville-Regular"/>
              </a:rPr>
              <a:t>Explain the concept of climate </a:t>
            </a:r>
            <a:r>
              <a:rPr lang="en-IN" sz="6000" dirty="0">
                <a:latin typeface="LibreBaskerville-Regular"/>
              </a:rPr>
              <a:t>change.</a:t>
            </a:r>
          </a:p>
          <a:p>
            <a:pPr algn="l"/>
            <a:r>
              <a:rPr lang="en-US" sz="6000" dirty="0">
                <a:latin typeface="LibreBaskerville-Regular"/>
              </a:rPr>
              <a:t>Provide an essay-length explanation (800-1000 words) of the concept of climate change.</a:t>
            </a:r>
          </a:p>
          <a:p>
            <a:pPr algn="l"/>
            <a:endParaRPr lang="en-US" sz="6000" dirty="0">
              <a:latin typeface="LibreBaskerville-Regular"/>
            </a:endParaRPr>
          </a:p>
          <a:p>
            <a:pPr algn="l"/>
            <a:r>
              <a:rPr lang="en-IN" sz="6000" dirty="0">
                <a:latin typeface="LibreBaskerville-Regular"/>
              </a:rPr>
              <a:t>Create a social media post </a:t>
            </a:r>
            <a:r>
              <a:rPr lang="en-US" sz="6000" dirty="0">
                <a:latin typeface="LibreBaskerville-Regular"/>
              </a:rPr>
              <a:t>about our new product [name].</a:t>
            </a:r>
          </a:p>
          <a:p>
            <a:pPr algn="l"/>
            <a:r>
              <a:rPr lang="en-US" sz="6000" dirty="0">
                <a:latin typeface="LibreBaskerville-Regular"/>
              </a:rPr>
              <a:t>Craft a social media post (maximum 280characters) to promote our new product[name]</a:t>
            </a:r>
          </a:p>
          <a:p>
            <a:pPr algn="l"/>
            <a:endParaRPr lang="en-IN" sz="6000" dirty="0">
              <a:latin typeface="LibreBaskerville-Regular"/>
            </a:endParaRPr>
          </a:p>
          <a:p>
            <a:pPr algn="l"/>
            <a:r>
              <a:rPr lang="en-US" sz="6000" dirty="0">
                <a:latin typeface="LibreBaskerville-Regular"/>
              </a:rPr>
              <a:t>Summarize the key findings of the research paper on artificial </a:t>
            </a:r>
            <a:r>
              <a:rPr lang="en-IN" sz="6000" dirty="0">
                <a:latin typeface="LibreBaskerville-Regular"/>
              </a:rPr>
              <a:t>intelligence.</a:t>
            </a:r>
          </a:p>
          <a:p>
            <a:pPr algn="l"/>
            <a:r>
              <a:rPr lang="en-US" sz="6000" dirty="0">
                <a:latin typeface="LibreBaskerville-Regular"/>
              </a:rPr>
              <a:t>Summarize the key findings of the research paper on artificial intelligence in four to six</a:t>
            </a:r>
          </a:p>
          <a:p>
            <a:pPr algn="l"/>
            <a:r>
              <a:rPr lang="en-IN" sz="6000" dirty="0">
                <a:latin typeface="LibreBaskerville-Regular"/>
              </a:rPr>
              <a:t>sentences.</a:t>
            </a:r>
          </a:p>
        </p:txBody>
      </p:sp>
    </p:spTree>
    <p:extLst>
      <p:ext uri="{BB962C8B-B14F-4D97-AF65-F5344CB8AC3E}">
        <p14:creationId xmlns:p14="http://schemas.microsoft.com/office/powerpoint/2010/main" val="34107267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ECB6-5705-40CA-A902-4626C820D512}"/>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lstStyle/>
          <a:p>
            <a:r>
              <a:rPr lang="en-IN" dirty="0"/>
              <a:t>Effective prompt/</a:t>
            </a:r>
            <a:r>
              <a:rPr lang="en-US" sz="2400" dirty="0">
                <a:latin typeface="LibreBaskerville-Regular"/>
              </a:rPr>
              <a:t>Be Concise and Avoid Multiple Questions</a:t>
            </a:r>
            <a:endParaRPr lang="en-IN" sz="2400" dirty="0"/>
          </a:p>
        </p:txBody>
      </p:sp>
      <p:sp>
        <p:nvSpPr>
          <p:cNvPr id="3" name="Content Placeholder 2">
            <a:extLst>
              <a:ext uri="{FF2B5EF4-FFF2-40B4-BE49-F238E27FC236}">
                <a16:creationId xmlns:a16="http://schemas.microsoft.com/office/drawing/2014/main" id="{B9ACE37A-80DB-4603-836A-A0C20114D6E2}"/>
              </a:ext>
            </a:extLst>
          </p:cNvPr>
          <p:cNvSpPr>
            <a:spLocks noGrp="1"/>
          </p:cNvSpPr>
          <p:nvPr>
            <p:ph idx="1"/>
          </p:nvPr>
        </p:nvSpPr>
        <p:spPr/>
        <p:txBody>
          <a:bodyPr>
            <a:normAutofit/>
          </a:bodyPr>
          <a:lstStyle/>
          <a:p>
            <a:pPr algn="l"/>
            <a:r>
              <a:rPr lang="en-US" b="0" i="0" u="none" strike="noStrike" baseline="0" dirty="0">
                <a:latin typeface="LibreBaskerville-Regular"/>
              </a:rPr>
              <a:t>Avoid asking multiple questions in a single prompt; it can lead to confusion </a:t>
            </a:r>
            <a:r>
              <a:rPr lang="en-IN" b="0" i="0" u="none" strike="noStrike" baseline="0" dirty="0">
                <a:latin typeface="LibreBaskerville-Regular"/>
              </a:rPr>
              <a:t>and inaccurate responses.</a:t>
            </a:r>
          </a:p>
          <a:p>
            <a:pPr algn="l"/>
            <a:r>
              <a:rPr lang="en-US" b="0" i="0" u="none" strike="noStrike" baseline="0" dirty="0">
                <a:latin typeface="LibreBaskerville-Regular"/>
              </a:rPr>
              <a:t>Keep your questions concise and focused on one topic to improve clarity and </a:t>
            </a:r>
            <a:r>
              <a:rPr lang="en-IN" b="0" i="0" u="none" strike="noStrike" baseline="0" dirty="0">
                <a:latin typeface="LibreBaskerville-Regular"/>
              </a:rPr>
              <a:t>accuracy.</a:t>
            </a:r>
            <a:endParaRPr lang="en-IN" dirty="0"/>
          </a:p>
        </p:txBody>
      </p:sp>
    </p:spTree>
    <p:extLst>
      <p:ext uri="{BB962C8B-B14F-4D97-AF65-F5344CB8AC3E}">
        <p14:creationId xmlns:p14="http://schemas.microsoft.com/office/powerpoint/2010/main" val="29694295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ECB6-5705-40CA-A902-4626C820D512}"/>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lstStyle/>
          <a:p>
            <a:r>
              <a:rPr lang="en-IN" dirty="0"/>
              <a:t>Effective prompt/</a:t>
            </a:r>
            <a:r>
              <a:rPr lang="en-US" sz="2400" dirty="0">
                <a:latin typeface="LibreBaskerville-Regular"/>
              </a:rPr>
              <a:t>Using Action Verbs in Prompts</a:t>
            </a:r>
            <a:endParaRPr lang="en-IN" sz="2400" dirty="0"/>
          </a:p>
        </p:txBody>
      </p:sp>
      <p:pic>
        <p:nvPicPr>
          <p:cNvPr id="5" name="Content Placeholder 4">
            <a:extLst>
              <a:ext uri="{FF2B5EF4-FFF2-40B4-BE49-F238E27FC236}">
                <a16:creationId xmlns:a16="http://schemas.microsoft.com/office/drawing/2014/main" id="{9E92A2A9-D8BB-4A3D-99BC-37B1627847B5}"/>
              </a:ext>
            </a:extLst>
          </p:cNvPr>
          <p:cNvPicPr>
            <a:picLocks noGrp="1" noChangeAspect="1"/>
          </p:cNvPicPr>
          <p:nvPr>
            <p:ph idx="1"/>
          </p:nvPr>
        </p:nvPicPr>
        <p:blipFill>
          <a:blip r:embed="rId2"/>
          <a:stretch>
            <a:fillRect/>
          </a:stretch>
        </p:blipFill>
        <p:spPr>
          <a:xfrm>
            <a:off x="3851619" y="2226469"/>
            <a:ext cx="4488762" cy="3263504"/>
          </a:xfrm>
        </p:spPr>
      </p:pic>
    </p:spTree>
    <p:extLst>
      <p:ext uri="{BB962C8B-B14F-4D97-AF65-F5344CB8AC3E}">
        <p14:creationId xmlns:p14="http://schemas.microsoft.com/office/powerpoint/2010/main" val="1149808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ECB6-5705-40CA-A902-4626C820D512}"/>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lstStyle/>
          <a:p>
            <a:r>
              <a:rPr lang="en-IN" dirty="0"/>
              <a:t>Effective prompt/</a:t>
            </a:r>
            <a:r>
              <a:rPr lang="en-US" sz="2400" dirty="0">
                <a:latin typeface="LibreBaskerville-Regular"/>
              </a:rPr>
              <a:t>Tone of Voice in Prompts</a:t>
            </a:r>
            <a:endParaRPr lang="en-IN" sz="2400" dirty="0"/>
          </a:p>
        </p:txBody>
      </p:sp>
      <p:sp>
        <p:nvSpPr>
          <p:cNvPr id="3" name="Content Placeholder 2">
            <a:extLst>
              <a:ext uri="{FF2B5EF4-FFF2-40B4-BE49-F238E27FC236}">
                <a16:creationId xmlns:a16="http://schemas.microsoft.com/office/drawing/2014/main" id="{B9ACE37A-80DB-4603-836A-A0C20114D6E2}"/>
              </a:ext>
            </a:extLst>
          </p:cNvPr>
          <p:cNvSpPr>
            <a:spLocks noGrp="1"/>
          </p:cNvSpPr>
          <p:nvPr>
            <p:ph idx="1"/>
          </p:nvPr>
        </p:nvSpPr>
        <p:spPr/>
        <p:txBody>
          <a:bodyPr>
            <a:normAutofit/>
          </a:bodyPr>
          <a:lstStyle/>
          <a:p>
            <a:pPr algn="l"/>
            <a:r>
              <a:rPr lang="en-US" b="0" i="0" u="none" strike="noStrike" baseline="0" dirty="0">
                <a:latin typeface="LibreBaskerville-Regular"/>
              </a:rPr>
              <a:t>Maintaining a consistent tone of voice in your prompts helps convey your brand </a:t>
            </a:r>
            <a:r>
              <a:rPr lang="en-IN" b="0" i="0" u="none" strike="noStrike" baseline="0" dirty="0">
                <a:latin typeface="LibreBaskerville-Regular"/>
              </a:rPr>
              <a:t>identity effectively.</a:t>
            </a:r>
          </a:p>
          <a:p>
            <a:pPr algn="l"/>
            <a:endParaRPr lang="en-IN" dirty="0">
              <a:latin typeface="LibreBaskerville-Regular"/>
            </a:endParaRPr>
          </a:p>
          <a:p>
            <a:pPr algn="l"/>
            <a:r>
              <a:rPr lang="en-US" sz="1350" b="1" dirty="0">
                <a:latin typeface="LibreBaskerville-Bold"/>
              </a:rPr>
              <a:t>Aggressive</a:t>
            </a:r>
            <a:r>
              <a:rPr lang="en-US" sz="1350" dirty="0">
                <a:latin typeface="LibreBaskerville-Regular"/>
              </a:rPr>
              <a:t>: "Write a blog on the effect of poverty on the economy in an aggressive</a:t>
            </a:r>
            <a:r>
              <a:rPr lang="en-IN" sz="1350" dirty="0">
                <a:latin typeface="LibreBaskerville-Regular"/>
              </a:rPr>
              <a:t>tone."</a:t>
            </a:r>
          </a:p>
          <a:p>
            <a:pPr algn="l"/>
            <a:r>
              <a:rPr lang="en-US" sz="1350" b="1" dirty="0">
                <a:latin typeface="LibreBaskerville-Bold"/>
              </a:rPr>
              <a:t>Calm</a:t>
            </a:r>
            <a:r>
              <a:rPr lang="en-US" sz="1350" dirty="0">
                <a:latin typeface="LibreBaskerville-Regular"/>
              </a:rPr>
              <a:t>: "Compose a blog post discussing the impact of mindfulness on mental health in a</a:t>
            </a:r>
            <a:r>
              <a:rPr lang="en-IN" sz="1350" dirty="0">
                <a:latin typeface="LibreBaskerville-Regular"/>
              </a:rPr>
              <a:t>calm and composed tone."</a:t>
            </a:r>
          </a:p>
          <a:p>
            <a:pPr algn="l"/>
            <a:r>
              <a:rPr lang="en-US" sz="1350" b="1" dirty="0">
                <a:latin typeface="LibreBaskerville-Bold"/>
              </a:rPr>
              <a:t>Confident</a:t>
            </a:r>
            <a:r>
              <a:rPr lang="en-US" sz="1350" dirty="0">
                <a:latin typeface="LibreBaskerville-Regular"/>
              </a:rPr>
              <a:t>: "Craft an article about personal finance strategies with a confident and</a:t>
            </a:r>
            <a:r>
              <a:rPr lang="en-IN" sz="1350" dirty="0">
                <a:latin typeface="LibreBaskerville-Regular"/>
              </a:rPr>
              <a:t>authoritative tone."</a:t>
            </a:r>
          </a:p>
          <a:p>
            <a:pPr algn="l"/>
            <a:r>
              <a:rPr lang="en-US" sz="1350" b="1" dirty="0">
                <a:latin typeface="LibreBaskerville-Bold"/>
              </a:rPr>
              <a:t>Excited</a:t>
            </a:r>
            <a:r>
              <a:rPr lang="en-US" sz="1350" dirty="0">
                <a:latin typeface="LibreBaskerville-Regular"/>
              </a:rPr>
              <a:t>: "Write a review of the latest science fiction novel, capturing your </a:t>
            </a:r>
            <a:r>
              <a:rPr lang="en-US" sz="1350" dirty="0" err="1">
                <a:latin typeface="LibreBaskerville-Regular"/>
              </a:rPr>
              <a:t>excitementand</a:t>
            </a:r>
            <a:r>
              <a:rPr lang="en-US" sz="1350" dirty="0">
                <a:latin typeface="LibreBaskerville-Regular"/>
              </a:rPr>
              <a:t> enthusiasm for its imaginative plot."</a:t>
            </a:r>
          </a:p>
          <a:p>
            <a:pPr algn="l"/>
            <a:r>
              <a:rPr lang="en-US" sz="1350" b="1" dirty="0">
                <a:latin typeface="LibreBaskerville-Bold"/>
              </a:rPr>
              <a:t>Formal</a:t>
            </a:r>
            <a:r>
              <a:rPr lang="en-US" sz="1350" dirty="0">
                <a:latin typeface="LibreBaskerville-Regular"/>
              </a:rPr>
              <a:t>: "Develop a research paper on the historical significance of the </a:t>
            </a:r>
            <a:r>
              <a:rPr lang="en-US" sz="1350" dirty="0" err="1">
                <a:latin typeface="LibreBaskerville-Regular"/>
              </a:rPr>
              <a:t>IndustrialRevolution</a:t>
            </a:r>
            <a:r>
              <a:rPr lang="en-US" sz="1350" dirty="0">
                <a:latin typeface="LibreBaskerville-Regular"/>
              </a:rPr>
              <a:t> using a formal and scholarly tone."</a:t>
            </a:r>
            <a:endParaRPr lang="en-IN" b="0" i="0" u="none" strike="noStrike" baseline="0" dirty="0">
              <a:latin typeface="LibreBaskerville-Regular"/>
            </a:endParaRPr>
          </a:p>
          <a:p>
            <a:pPr algn="l"/>
            <a:endParaRPr lang="en-IN" dirty="0">
              <a:latin typeface="LibreBaskerville-Regular"/>
            </a:endParaRPr>
          </a:p>
          <a:p>
            <a:pPr algn="l"/>
            <a:endParaRPr lang="en-IN" dirty="0"/>
          </a:p>
        </p:txBody>
      </p:sp>
    </p:spTree>
    <p:extLst>
      <p:ext uri="{BB962C8B-B14F-4D97-AF65-F5344CB8AC3E}">
        <p14:creationId xmlns:p14="http://schemas.microsoft.com/office/powerpoint/2010/main" val="29698280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ECB6-5705-40CA-A902-4626C820D512}"/>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lstStyle/>
          <a:p>
            <a:r>
              <a:rPr lang="en-IN" dirty="0"/>
              <a:t>Effective prompt/</a:t>
            </a:r>
            <a:r>
              <a:rPr lang="en-US" sz="2400" b="1" dirty="0">
                <a:latin typeface="LibreBaskerville-Bold"/>
              </a:rPr>
              <a:t>"Pretend You Are an Expert"</a:t>
            </a:r>
            <a:endParaRPr lang="en-IN" sz="2400" dirty="0"/>
          </a:p>
        </p:txBody>
      </p:sp>
      <p:sp>
        <p:nvSpPr>
          <p:cNvPr id="3" name="Content Placeholder 2">
            <a:extLst>
              <a:ext uri="{FF2B5EF4-FFF2-40B4-BE49-F238E27FC236}">
                <a16:creationId xmlns:a16="http://schemas.microsoft.com/office/drawing/2014/main" id="{B9ACE37A-80DB-4603-836A-A0C20114D6E2}"/>
              </a:ext>
            </a:extLst>
          </p:cNvPr>
          <p:cNvSpPr>
            <a:spLocks noGrp="1"/>
          </p:cNvSpPr>
          <p:nvPr>
            <p:ph idx="1"/>
          </p:nvPr>
        </p:nvSpPr>
        <p:spPr/>
        <p:txBody>
          <a:bodyPr>
            <a:noAutofit/>
          </a:bodyPr>
          <a:lstStyle/>
          <a:p>
            <a:pPr algn="l"/>
            <a:r>
              <a:rPr lang="en-US" b="0" i="0" u="none" strike="noStrike" baseline="0" dirty="0">
                <a:latin typeface="LibreBaskerville-Regular"/>
              </a:rPr>
              <a:t>What exercises should I do to </a:t>
            </a:r>
            <a:r>
              <a:rPr lang="en-IN" b="0" i="0" u="none" strike="noStrike" baseline="0" dirty="0">
                <a:latin typeface="LibreBaskerville-Regular"/>
              </a:rPr>
              <a:t>improve my core strength?</a:t>
            </a:r>
          </a:p>
          <a:p>
            <a:pPr algn="l"/>
            <a:endParaRPr lang="en-IN" b="0" i="0" u="none" strike="noStrike" baseline="0" dirty="0">
              <a:latin typeface="LibreBaskerville-Regular"/>
            </a:endParaRPr>
          </a:p>
          <a:p>
            <a:pPr algn="l"/>
            <a:r>
              <a:rPr lang="en-US" b="0" i="0" u="none" strike="noStrike" baseline="0" dirty="0">
                <a:latin typeface="LibreBaskerville-Regular"/>
              </a:rPr>
              <a:t>Pretend you are a fitness expert. What exercises should I do to improve my core strength?</a:t>
            </a:r>
          </a:p>
          <a:p>
            <a:pPr algn="l"/>
            <a:endParaRPr lang="en-US" b="0" i="0" u="none" strike="noStrike" baseline="0" dirty="0">
              <a:latin typeface="LibreBaskerville-Regular"/>
            </a:endParaRPr>
          </a:p>
          <a:p>
            <a:pPr algn="l"/>
            <a:r>
              <a:rPr lang="en-IN" b="0" i="0" u="none" strike="noStrike" baseline="0" dirty="0">
                <a:latin typeface="LibreBaskerville-Regular"/>
              </a:rPr>
              <a:t>I'm planning a budget-friendly</a:t>
            </a:r>
            <a:r>
              <a:rPr lang="en-US" b="0" i="0" u="none" strike="noStrike" baseline="0" dirty="0">
                <a:latin typeface="LibreBaskerville-Regular"/>
              </a:rPr>
              <a:t>trip to Paris. Any tips?</a:t>
            </a:r>
          </a:p>
          <a:p>
            <a:pPr algn="l"/>
            <a:endParaRPr lang="en-US" b="0" i="0" u="none" strike="noStrike" baseline="0" dirty="0">
              <a:latin typeface="LibreBaskerville-Regular"/>
            </a:endParaRPr>
          </a:p>
          <a:p>
            <a:pPr algn="l"/>
            <a:r>
              <a:rPr lang="en-US" b="0" i="0" u="none" strike="noStrike" baseline="0" dirty="0">
                <a:latin typeface="LibreBaskerville-Regular"/>
              </a:rPr>
              <a:t>Pretend you are a travel expert. I'm planning </a:t>
            </a:r>
            <a:r>
              <a:rPr lang="en-US" b="0" i="0" u="none" strike="noStrike" baseline="0" dirty="0" err="1">
                <a:latin typeface="LibreBaskerville-Regular"/>
              </a:rPr>
              <a:t>abudget</a:t>
            </a:r>
            <a:r>
              <a:rPr lang="en-US" b="0" i="0" u="none" strike="noStrike" baseline="0" dirty="0">
                <a:latin typeface="LibreBaskerville-Regular"/>
              </a:rPr>
              <a:t>-friendly trip to Paris. Any tips?</a:t>
            </a:r>
            <a:endParaRPr lang="en-IN" dirty="0"/>
          </a:p>
        </p:txBody>
      </p:sp>
    </p:spTree>
    <p:extLst>
      <p:ext uri="{BB962C8B-B14F-4D97-AF65-F5344CB8AC3E}">
        <p14:creationId xmlns:p14="http://schemas.microsoft.com/office/powerpoint/2010/main" val="16615175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ECB6-5705-40CA-A902-4626C820D512}"/>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lstStyle/>
          <a:p>
            <a:r>
              <a:rPr lang="en-IN" dirty="0"/>
              <a:t>Effective prompt/</a:t>
            </a:r>
            <a:r>
              <a:rPr lang="en-IN" sz="2400" b="1" dirty="0">
                <a:latin typeface="LibreBaskerville-Bold"/>
              </a:rPr>
              <a:t>Play Devil's Advocate </a:t>
            </a:r>
            <a:endParaRPr lang="en-IN" sz="2400" dirty="0"/>
          </a:p>
        </p:txBody>
      </p:sp>
      <p:sp>
        <p:nvSpPr>
          <p:cNvPr id="3" name="Content Placeholder 2">
            <a:extLst>
              <a:ext uri="{FF2B5EF4-FFF2-40B4-BE49-F238E27FC236}">
                <a16:creationId xmlns:a16="http://schemas.microsoft.com/office/drawing/2014/main" id="{B9ACE37A-80DB-4603-836A-A0C20114D6E2}"/>
              </a:ext>
            </a:extLst>
          </p:cNvPr>
          <p:cNvSpPr>
            <a:spLocks noGrp="1"/>
          </p:cNvSpPr>
          <p:nvPr>
            <p:ph idx="1"/>
          </p:nvPr>
        </p:nvSpPr>
        <p:spPr/>
        <p:txBody>
          <a:bodyPr>
            <a:noAutofit/>
          </a:bodyPr>
          <a:lstStyle/>
          <a:p>
            <a:pPr algn="l"/>
            <a:r>
              <a:rPr lang="en-US" b="0" i="0" u="none" strike="noStrike" baseline="0" dirty="0">
                <a:latin typeface="LibreBaskerville-Regular"/>
              </a:rPr>
              <a:t>Use this phrase to get unique and specific answers.</a:t>
            </a:r>
          </a:p>
          <a:p>
            <a:pPr algn="l"/>
            <a:r>
              <a:rPr lang="en-US" b="0" i="0" u="none" strike="noStrike" baseline="0" dirty="0">
                <a:latin typeface="LibreBaskerville-Regular"/>
              </a:rPr>
              <a:t>Forces </a:t>
            </a:r>
            <a:r>
              <a:rPr lang="en-US" b="0" i="0" u="none" strike="noStrike" baseline="0" dirty="0" err="1">
                <a:latin typeface="LibreBaskerville-Regular"/>
              </a:rPr>
              <a:t>ChatGPT</a:t>
            </a:r>
            <a:r>
              <a:rPr lang="en-US" b="0" i="0" u="none" strike="noStrike" baseline="0" dirty="0">
                <a:latin typeface="LibreBaskerville-Regular"/>
              </a:rPr>
              <a:t> to consider counterarguments.</a:t>
            </a:r>
          </a:p>
          <a:p>
            <a:pPr algn="l"/>
            <a:r>
              <a:rPr lang="en-US" b="0" i="0" u="none" strike="noStrike" baseline="0" dirty="0">
                <a:latin typeface="LibreBaskerville-Regular"/>
              </a:rPr>
              <a:t>Deeper analysis of problem statements.</a:t>
            </a:r>
          </a:p>
          <a:p>
            <a:pPr algn="l"/>
            <a:r>
              <a:rPr lang="en-US" b="0" i="0" u="none" strike="noStrike" baseline="0" dirty="0">
                <a:latin typeface="LibreBaskerville-Regular"/>
              </a:rPr>
              <a:t>Useful for making more informed decisions</a:t>
            </a:r>
            <a:endParaRPr lang="en-IN" dirty="0"/>
          </a:p>
        </p:txBody>
      </p:sp>
    </p:spTree>
    <p:extLst>
      <p:ext uri="{BB962C8B-B14F-4D97-AF65-F5344CB8AC3E}">
        <p14:creationId xmlns:p14="http://schemas.microsoft.com/office/powerpoint/2010/main" val="35718197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0ECB6-5705-40CA-A902-4626C820D512}"/>
              </a:ext>
            </a:extLst>
          </p:cNvPr>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lstStyle/>
          <a:p>
            <a:r>
              <a:rPr lang="en-IN" dirty="0"/>
              <a:t>Effective prompt/</a:t>
            </a:r>
            <a:r>
              <a:rPr lang="en-US" sz="1350" b="1" dirty="0">
                <a:latin typeface="LibreBaskerville-Bold"/>
              </a:rPr>
              <a:t>"Pretend You Are My Consultant"</a:t>
            </a:r>
            <a:endParaRPr lang="en-IN" sz="2400" dirty="0"/>
          </a:p>
        </p:txBody>
      </p:sp>
      <p:sp>
        <p:nvSpPr>
          <p:cNvPr id="3" name="Content Placeholder 2">
            <a:extLst>
              <a:ext uri="{FF2B5EF4-FFF2-40B4-BE49-F238E27FC236}">
                <a16:creationId xmlns:a16="http://schemas.microsoft.com/office/drawing/2014/main" id="{B9ACE37A-80DB-4603-836A-A0C20114D6E2}"/>
              </a:ext>
            </a:extLst>
          </p:cNvPr>
          <p:cNvSpPr>
            <a:spLocks noGrp="1"/>
          </p:cNvSpPr>
          <p:nvPr>
            <p:ph idx="1"/>
          </p:nvPr>
        </p:nvSpPr>
        <p:spPr/>
        <p:txBody>
          <a:bodyPr>
            <a:noAutofit/>
          </a:bodyPr>
          <a:lstStyle/>
          <a:p>
            <a:pPr algn="l"/>
            <a:r>
              <a:rPr lang="en-US" sz="2400" dirty="0">
                <a:latin typeface="LibreBaskerville-Regular"/>
              </a:rPr>
              <a:t>Treat </a:t>
            </a:r>
            <a:r>
              <a:rPr lang="en-US" sz="2400" dirty="0" err="1">
                <a:latin typeface="LibreBaskerville-Regular"/>
              </a:rPr>
              <a:t>ChatGPT</a:t>
            </a:r>
            <a:r>
              <a:rPr lang="en-US" sz="2400" dirty="0">
                <a:latin typeface="LibreBaskerville-Regular"/>
              </a:rPr>
              <a:t> as a personal consultant.</a:t>
            </a:r>
          </a:p>
          <a:p>
            <a:pPr algn="l"/>
            <a:r>
              <a:rPr lang="en-US" sz="2400" dirty="0">
                <a:latin typeface="LibreBaskerville-Regular"/>
              </a:rPr>
              <a:t>Provides detailed insights and tailored advice.</a:t>
            </a:r>
          </a:p>
          <a:p>
            <a:pPr algn="l"/>
            <a:r>
              <a:rPr lang="en-US" sz="2400" dirty="0">
                <a:latin typeface="LibreBaskerville-Regular"/>
              </a:rPr>
              <a:t>Similar to consulting from experts.</a:t>
            </a:r>
          </a:p>
          <a:p>
            <a:pPr algn="l"/>
            <a:r>
              <a:rPr lang="en-US" sz="2400" dirty="0">
                <a:latin typeface="LibreBaskerville-Regular"/>
              </a:rPr>
              <a:t>Helps in making better decisions.</a:t>
            </a:r>
            <a:endParaRPr lang="en-IN" sz="2400" dirty="0"/>
          </a:p>
        </p:txBody>
      </p:sp>
    </p:spTree>
    <p:extLst>
      <p:ext uri="{BB962C8B-B14F-4D97-AF65-F5344CB8AC3E}">
        <p14:creationId xmlns:p14="http://schemas.microsoft.com/office/powerpoint/2010/main" val="4009633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413DA-B800-4F25-A316-7D0F80C97015}"/>
              </a:ext>
            </a:extLst>
          </p:cNvPr>
          <p:cNvSpPr>
            <a:spLocks noGrp="1"/>
          </p:cNvSpPr>
          <p:nvPr>
            <p:ph type="ctrTitle"/>
          </p:nvPr>
        </p:nvSpPr>
        <p:spPr/>
        <p:txBody>
          <a:bodyPr/>
          <a:lstStyle/>
          <a:p>
            <a:r>
              <a:rPr lang="en-US" dirty="0"/>
              <a:t>Prompt engineering </a:t>
            </a:r>
            <a:endParaRPr lang="en-IN" dirty="0"/>
          </a:p>
        </p:txBody>
      </p:sp>
      <p:sp>
        <p:nvSpPr>
          <p:cNvPr id="3" name="Subtitle 2">
            <a:extLst>
              <a:ext uri="{FF2B5EF4-FFF2-40B4-BE49-F238E27FC236}">
                <a16:creationId xmlns:a16="http://schemas.microsoft.com/office/drawing/2014/main" id="{EF8D0E69-BB1C-4AC3-9543-C2CFF86788E1}"/>
              </a:ext>
            </a:extLst>
          </p:cNvPr>
          <p:cNvSpPr>
            <a:spLocks noGrp="1"/>
          </p:cNvSpPr>
          <p:nvPr>
            <p:ph type="subTitle" idx="1"/>
          </p:nvPr>
        </p:nvSpPr>
        <p:spPr/>
        <p:txBody>
          <a:bodyPr/>
          <a:lstStyle/>
          <a:p>
            <a:r>
              <a:rPr lang="en-US" dirty="0"/>
              <a:t>Skill course</a:t>
            </a:r>
            <a:endParaRPr lang="en-IN" dirty="0"/>
          </a:p>
        </p:txBody>
      </p:sp>
    </p:spTree>
    <p:extLst>
      <p:ext uri="{BB962C8B-B14F-4D97-AF65-F5344CB8AC3E}">
        <p14:creationId xmlns:p14="http://schemas.microsoft.com/office/powerpoint/2010/main" val="32744285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2C4D6-02A6-4833-916D-BE840974256C}"/>
              </a:ext>
            </a:extLst>
          </p:cNvPr>
          <p:cNvSpPr>
            <a:spLocks noGrp="1"/>
          </p:cNvSpPr>
          <p:nvPr>
            <p:ph type="title"/>
          </p:nvPr>
        </p:nvSpPr>
        <p:spPr/>
        <p:txBody>
          <a:bodyPr/>
          <a:lstStyle/>
          <a:p>
            <a:r>
              <a:rPr lang="en-IN" dirty="0"/>
              <a:t>What is Prompt Engineering?</a:t>
            </a:r>
          </a:p>
        </p:txBody>
      </p:sp>
      <p:sp>
        <p:nvSpPr>
          <p:cNvPr id="3" name="Content Placeholder 2">
            <a:extLst>
              <a:ext uri="{FF2B5EF4-FFF2-40B4-BE49-F238E27FC236}">
                <a16:creationId xmlns:a16="http://schemas.microsoft.com/office/drawing/2014/main" id="{8C5C85B4-2CF1-442F-BFF0-BE428785A3CE}"/>
              </a:ext>
            </a:extLst>
          </p:cNvPr>
          <p:cNvSpPr>
            <a:spLocks noGrp="1"/>
          </p:cNvSpPr>
          <p:nvPr>
            <p:ph idx="1"/>
          </p:nvPr>
        </p:nvSpPr>
        <p:spPr/>
        <p:txBody>
          <a:bodyPr/>
          <a:lstStyle/>
          <a:p>
            <a:r>
              <a:rPr lang="en-US" b="1" dirty="0"/>
              <a:t>Prompt Engineering</a:t>
            </a:r>
            <a:r>
              <a:rPr lang="en-US" dirty="0"/>
              <a:t> is the process of designing, structuring, and refining instructions (prompts) that guide a Large Language Model (LLM) to generate accurate, relevant, and useful responses.</a:t>
            </a:r>
            <a:endParaRPr lang="en-IN" dirty="0"/>
          </a:p>
        </p:txBody>
      </p:sp>
    </p:spTree>
    <p:extLst>
      <p:ext uri="{BB962C8B-B14F-4D97-AF65-F5344CB8AC3E}">
        <p14:creationId xmlns:p14="http://schemas.microsoft.com/office/powerpoint/2010/main" val="6098511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F432D-DDE4-4508-82A5-6F71CE0B3F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25A17B4-3686-4396-B443-CE6DF1DD703D}"/>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96A974BE-C374-4365-A25B-2EB2BA1DBDCA}"/>
              </a:ext>
            </a:extLst>
          </p:cNvPr>
          <p:cNvPicPr>
            <a:picLocks noChangeAspect="1"/>
          </p:cNvPicPr>
          <p:nvPr/>
        </p:nvPicPr>
        <p:blipFill>
          <a:blip r:embed="rId2"/>
          <a:stretch>
            <a:fillRect/>
          </a:stretch>
        </p:blipFill>
        <p:spPr>
          <a:xfrm>
            <a:off x="838200" y="681037"/>
            <a:ext cx="10142764" cy="5163589"/>
          </a:xfrm>
          <a:prstGeom prst="rect">
            <a:avLst/>
          </a:prstGeom>
        </p:spPr>
      </p:pic>
    </p:spTree>
    <p:extLst>
      <p:ext uri="{BB962C8B-B14F-4D97-AF65-F5344CB8AC3E}">
        <p14:creationId xmlns:p14="http://schemas.microsoft.com/office/powerpoint/2010/main" val="39457390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64BC1-B9A7-4529-9FB5-84B9E744210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CE9248A-A865-4B2A-A943-A996C5FE0848}"/>
              </a:ext>
            </a:extLst>
          </p:cNvPr>
          <p:cNvSpPr>
            <a:spLocks noGrp="1"/>
          </p:cNvSpPr>
          <p:nvPr>
            <p:ph idx="1"/>
          </p:nvPr>
        </p:nvSpPr>
        <p:spPr/>
        <p:txBody>
          <a:bodyPr>
            <a:normAutofit fontScale="85000" lnSpcReduction="20000"/>
          </a:bodyPr>
          <a:lstStyle/>
          <a:p>
            <a:r>
              <a:rPr lang="en-US" dirty="0"/>
              <a:t>Translate English to French.</a:t>
            </a:r>
          </a:p>
          <a:p>
            <a:endParaRPr lang="en-US" dirty="0"/>
          </a:p>
          <a:p>
            <a:r>
              <a:rPr lang="en-US" dirty="0"/>
              <a:t>Summarize this article.</a:t>
            </a:r>
          </a:p>
          <a:p>
            <a:endParaRPr lang="en-US" dirty="0"/>
          </a:p>
          <a:p>
            <a:r>
              <a:rPr lang="en-US" dirty="0"/>
              <a:t>Write Python code.</a:t>
            </a:r>
          </a:p>
          <a:p>
            <a:endParaRPr lang="en-US" dirty="0"/>
          </a:p>
          <a:p>
            <a:r>
              <a:rPr lang="en-US" dirty="0"/>
              <a:t>Explain Neural Networks.</a:t>
            </a:r>
          </a:p>
          <a:p>
            <a:endParaRPr lang="en-US" dirty="0"/>
          </a:p>
          <a:p>
            <a:r>
              <a:rPr lang="en-US" dirty="0"/>
              <a:t>Generate SQL Query.</a:t>
            </a:r>
          </a:p>
          <a:p>
            <a:endParaRPr lang="en-US" dirty="0"/>
          </a:p>
          <a:p>
            <a:r>
              <a:rPr lang="en-US" dirty="0"/>
              <a:t>Create a PowerPoint outline.</a:t>
            </a:r>
            <a:endParaRPr lang="en-IN" dirty="0"/>
          </a:p>
        </p:txBody>
      </p:sp>
    </p:spTree>
    <p:extLst>
      <p:ext uri="{BB962C8B-B14F-4D97-AF65-F5344CB8AC3E}">
        <p14:creationId xmlns:p14="http://schemas.microsoft.com/office/powerpoint/2010/main" val="17153498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FCCE3-4A77-40F2-B766-A098961A40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D2A67E-B72C-4E9B-9706-D18D96063A98}"/>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BF9D64EA-30EC-4EB7-9AA8-743D9E0275B5}"/>
              </a:ext>
            </a:extLst>
          </p:cNvPr>
          <p:cNvPicPr>
            <a:picLocks noChangeAspect="1"/>
          </p:cNvPicPr>
          <p:nvPr/>
        </p:nvPicPr>
        <p:blipFill>
          <a:blip r:embed="rId2"/>
          <a:stretch>
            <a:fillRect/>
          </a:stretch>
        </p:blipFill>
        <p:spPr>
          <a:xfrm>
            <a:off x="1020535" y="780725"/>
            <a:ext cx="9659114" cy="4452581"/>
          </a:xfrm>
          <a:prstGeom prst="rect">
            <a:avLst/>
          </a:prstGeom>
        </p:spPr>
      </p:pic>
    </p:spTree>
    <p:extLst>
      <p:ext uri="{BB962C8B-B14F-4D97-AF65-F5344CB8AC3E}">
        <p14:creationId xmlns:p14="http://schemas.microsoft.com/office/powerpoint/2010/main" val="20527586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F68C7-FD4D-4A64-8D95-F61B57F8186A}"/>
              </a:ext>
            </a:extLst>
          </p:cNvPr>
          <p:cNvSpPr>
            <a:spLocks noGrp="1"/>
          </p:cNvSpPr>
          <p:nvPr>
            <p:ph type="title"/>
          </p:nvPr>
        </p:nvSpPr>
        <p:spPr/>
        <p:txBody>
          <a:bodyPr/>
          <a:lstStyle/>
          <a:p>
            <a:r>
              <a:rPr lang="en-IN" dirty="0"/>
              <a:t>Why Prompt Engineering Matters</a:t>
            </a:r>
          </a:p>
        </p:txBody>
      </p:sp>
      <p:sp>
        <p:nvSpPr>
          <p:cNvPr id="3" name="Content Placeholder 2">
            <a:extLst>
              <a:ext uri="{FF2B5EF4-FFF2-40B4-BE49-F238E27FC236}">
                <a16:creationId xmlns:a16="http://schemas.microsoft.com/office/drawing/2014/main" id="{AE818EDA-E7E9-4A85-86DE-7C0EA9216B8F}"/>
              </a:ext>
            </a:extLst>
          </p:cNvPr>
          <p:cNvSpPr>
            <a:spLocks noGrp="1"/>
          </p:cNvSpPr>
          <p:nvPr>
            <p:ph idx="1"/>
          </p:nvPr>
        </p:nvSpPr>
        <p:spPr/>
        <p:txBody>
          <a:bodyPr>
            <a:normAutofit fontScale="77500" lnSpcReduction="20000"/>
          </a:bodyPr>
          <a:lstStyle/>
          <a:p>
            <a:r>
              <a:rPr lang="en-US" dirty="0"/>
              <a:t>Large Language Models are incredibly powerful, but </a:t>
            </a:r>
            <a:r>
              <a:rPr lang="en-US" b="1" dirty="0"/>
              <a:t>their output quality depends heavily on the prompt</a:t>
            </a:r>
            <a:r>
              <a:rPr lang="en-US" dirty="0"/>
              <a:t>.</a:t>
            </a:r>
          </a:p>
          <a:p>
            <a:r>
              <a:rPr lang="en-US" dirty="0">
                <a:solidFill>
                  <a:schemeClr val="accent2"/>
                </a:solidFill>
              </a:rPr>
              <a:t>A weak prompt often produces:</a:t>
            </a:r>
          </a:p>
          <a:p>
            <a:r>
              <a:rPr lang="en-US" dirty="0">
                <a:solidFill>
                  <a:schemeClr val="accent2"/>
                </a:solidFill>
              </a:rPr>
              <a:t>Generic answers </a:t>
            </a:r>
          </a:p>
          <a:p>
            <a:r>
              <a:rPr lang="en-US" dirty="0">
                <a:solidFill>
                  <a:schemeClr val="accent2"/>
                </a:solidFill>
              </a:rPr>
              <a:t>Incorrect assumptions </a:t>
            </a:r>
          </a:p>
          <a:p>
            <a:r>
              <a:rPr lang="en-US" dirty="0">
                <a:solidFill>
                  <a:schemeClr val="accent2"/>
                </a:solidFill>
              </a:rPr>
              <a:t>Missing details </a:t>
            </a:r>
          </a:p>
          <a:p>
            <a:r>
              <a:rPr lang="en-US" dirty="0">
                <a:solidFill>
                  <a:schemeClr val="accent2"/>
                </a:solidFill>
              </a:rPr>
              <a:t>Hallucinations </a:t>
            </a:r>
          </a:p>
          <a:p>
            <a:r>
              <a:rPr lang="en-US" dirty="0">
                <a:solidFill>
                  <a:schemeClr val="accent6"/>
                </a:solidFill>
              </a:rPr>
              <a:t>A strong prompt produces:</a:t>
            </a:r>
          </a:p>
          <a:p>
            <a:r>
              <a:rPr lang="en-US" dirty="0">
                <a:solidFill>
                  <a:schemeClr val="accent6"/>
                </a:solidFill>
              </a:rPr>
              <a:t>Accurate responses </a:t>
            </a:r>
          </a:p>
          <a:p>
            <a:r>
              <a:rPr lang="en-US" dirty="0">
                <a:solidFill>
                  <a:schemeClr val="accent6"/>
                </a:solidFill>
              </a:rPr>
              <a:t>Better reasoning </a:t>
            </a:r>
          </a:p>
          <a:p>
            <a:r>
              <a:rPr lang="en-US" dirty="0">
                <a:solidFill>
                  <a:schemeClr val="accent6"/>
                </a:solidFill>
              </a:rPr>
              <a:t>Structured outputs </a:t>
            </a:r>
          </a:p>
          <a:p>
            <a:r>
              <a:rPr lang="en-US" dirty="0">
                <a:solidFill>
                  <a:schemeClr val="accent6"/>
                </a:solidFill>
              </a:rPr>
              <a:t>Fewer revisions</a:t>
            </a:r>
          </a:p>
          <a:p>
            <a:endParaRPr lang="en-IN" dirty="0"/>
          </a:p>
        </p:txBody>
      </p:sp>
    </p:spTree>
    <p:extLst>
      <p:ext uri="{BB962C8B-B14F-4D97-AF65-F5344CB8AC3E}">
        <p14:creationId xmlns:p14="http://schemas.microsoft.com/office/powerpoint/2010/main" val="29702785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7A1CC-144C-40BC-ABE8-8F9E066C1D9A}"/>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102804A5-CC7A-44BD-BDAC-B15DED9945A7}"/>
              </a:ext>
            </a:extLst>
          </p:cNvPr>
          <p:cNvPicPr>
            <a:picLocks noGrp="1" noChangeAspect="1"/>
          </p:cNvPicPr>
          <p:nvPr>
            <p:ph idx="1"/>
          </p:nvPr>
        </p:nvPicPr>
        <p:blipFill>
          <a:blip r:embed="rId2"/>
          <a:stretch>
            <a:fillRect/>
          </a:stretch>
        </p:blipFill>
        <p:spPr>
          <a:xfrm>
            <a:off x="228524" y="1839075"/>
            <a:ext cx="4262693" cy="2463504"/>
          </a:xfrm>
          <a:prstGeom prst="rect">
            <a:avLst/>
          </a:prstGeom>
        </p:spPr>
        <p:style>
          <a:lnRef idx="2">
            <a:schemeClr val="accent2"/>
          </a:lnRef>
          <a:fillRef idx="1">
            <a:schemeClr val="lt1"/>
          </a:fillRef>
          <a:effectRef idx="0">
            <a:schemeClr val="accent2"/>
          </a:effectRef>
          <a:fontRef idx="minor">
            <a:schemeClr val="dk1"/>
          </a:fontRef>
        </p:style>
      </p:pic>
      <p:pic>
        <p:nvPicPr>
          <p:cNvPr id="5" name="Picture 4">
            <a:extLst>
              <a:ext uri="{FF2B5EF4-FFF2-40B4-BE49-F238E27FC236}">
                <a16:creationId xmlns:a16="http://schemas.microsoft.com/office/drawing/2014/main" id="{492A0CAB-05E1-4E79-B84E-98EC030BF87B}"/>
              </a:ext>
            </a:extLst>
          </p:cNvPr>
          <p:cNvPicPr>
            <a:picLocks noChangeAspect="1"/>
          </p:cNvPicPr>
          <p:nvPr/>
        </p:nvPicPr>
        <p:blipFill>
          <a:blip r:embed="rId3"/>
          <a:stretch>
            <a:fillRect/>
          </a:stretch>
        </p:blipFill>
        <p:spPr>
          <a:xfrm>
            <a:off x="4869534" y="508175"/>
            <a:ext cx="6838051" cy="5841650"/>
          </a:xfrm>
          <a:prstGeom prst="rect">
            <a:avLst/>
          </a:prstGeom>
          <a:ln>
            <a:solidFill>
              <a:schemeClr val="accent5">
                <a:lumMod val="75000"/>
              </a:schemeClr>
            </a:solidFill>
          </a:ln>
        </p:spPr>
      </p:pic>
    </p:spTree>
    <p:extLst>
      <p:ext uri="{BB962C8B-B14F-4D97-AF65-F5344CB8AC3E}">
        <p14:creationId xmlns:p14="http://schemas.microsoft.com/office/powerpoint/2010/main" val="24692423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1706D-87D6-4348-8ACE-8930C4B0EE1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AA7050-EFC5-4737-BE98-75CE55592E47}"/>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08B90966-2F03-40DE-A990-0A0C9D07D88C}"/>
              </a:ext>
            </a:extLst>
          </p:cNvPr>
          <p:cNvPicPr>
            <a:picLocks noChangeAspect="1"/>
          </p:cNvPicPr>
          <p:nvPr/>
        </p:nvPicPr>
        <p:blipFill>
          <a:blip r:embed="rId2"/>
          <a:stretch>
            <a:fillRect/>
          </a:stretch>
        </p:blipFill>
        <p:spPr>
          <a:xfrm>
            <a:off x="547007" y="425383"/>
            <a:ext cx="10238014" cy="5534800"/>
          </a:xfrm>
          <a:prstGeom prst="rect">
            <a:avLst/>
          </a:prstGeom>
        </p:spPr>
      </p:pic>
    </p:spTree>
    <p:extLst>
      <p:ext uri="{BB962C8B-B14F-4D97-AF65-F5344CB8AC3E}">
        <p14:creationId xmlns:p14="http://schemas.microsoft.com/office/powerpoint/2010/main" val="27309089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8E68E-66B1-4C4A-9A63-AFACE4D7D1B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B359305-D2BC-4060-A7A4-74F1A08FA0C2}"/>
              </a:ext>
            </a:extLst>
          </p:cNvPr>
          <p:cNvPicPr>
            <a:picLocks noGrp="1" noChangeAspect="1"/>
          </p:cNvPicPr>
          <p:nvPr>
            <p:ph idx="1"/>
          </p:nvPr>
        </p:nvPicPr>
        <p:blipFill>
          <a:blip r:embed="rId2"/>
          <a:stretch>
            <a:fillRect/>
          </a:stretch>
        </p:blipFill>
        <p:spPr>
          <a:xfrm>
            <a:off x="6295637" y="1949084"/>
            <a:ext cx="3778444" cy="2057506"/>
          </a:xfrm>
          <a:prstGeom prst="rect">
            <a:avLst/>
          </a:prstGeom>
        </p:spPr>
      </p:pic>
      <p:pic>
        <p:nvPicPr>
          <p:cNvPr id="4" name="Picture 3">
            <a:extLst>
              <a:ext uri="{FF2B5EF4-FFF2-40B4-BE49-F238E27FC236}">
                <a16:creationId xmlns:a16="http://schemas.microsoft.com/office/drawing/2014/main" id="{79121D3A-74E0-46D3-9D78-90D92BE15DA7}"/>
              </a:ext>
            </a:extLst>
          </p:cNvPr>
          <p:cNvPicPr>
            <a:picLocks noChangeAspect="1"/>
          </p:cNvPicPr>
          <p:nvPr/>
        </p:nvPicPr>
        <p:blipFill>
          <a:blip r:embed="rId3"/>
          <a:stretch>
            <a:fillRect/>
          </a:stretch>
        </p:blipFill>
        <p:spPr>
          <a:xfrm>
            <a:off x="244609" y="1145403"/>
            <a:ext cx="5851391" cy="4408714"/>
          </a:xfrm>
          <a:prstGeom prst="rect">
            <a:avLst/>
          </a:prstGeom>
        </p:spPr>
      </p:pic>
    </p:spTree>
    <p:extLst>
      <p:ext uri="{BB962C8B-B14F-4D97-AF65-F5344CB8AC3E}">
        <p14:creationId xmlns:p14="http://schemas.microsoft.com/office/powerpoint/2010/main" val="105505471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38C47-D6D2-44D2-ABAC-B4BBD93CCBCA}"/>
              </a:ext>
            </a:extLst>
          </p:cNvPr>
          <p:cNvSpPr>
            <a:spLocks noGrp="1"/>
          </p:cNvSpPr>
          <p:nvPr>
            <p:ph type="title"/>
          </p:nvPr>
        </p:nvSpPr>
        <p:spPr/>
        <p:txBody>
          <a:bodyPr/>
          <a:lstStyle/>
          <a:p>
            <a:r>
              <a:rPr lang="en-US" dirty="0"/>
              <a:t>Traditional ML / LLM workflow</a:t>
            </a:r>
            <a:endParaRPr lang="en-IN" dirty="0"/>
          </a:p>
        </p:txBody>
      </p:sp>
      <p:pic>
        <p:nvPicPr>
          <p:cNvPr id="4" name="Content Placeholder 3">
            <a:extLst>
              <a:ext uri="{FF2B5EF4-FFF2-40B4-BE49-F238E27FC236}">
                <a16:creationId xmlns:a16="http://schemas.microsoft.com/office/drawing/2014/main" id="{1CAFE271-FEBB-4A66-88BE-7C9B76E3D958}"/>
              </a:ext>
            </a:extLst>
          </p:cNvPr>
          <p:cNvPicPr>
            <a:picLocks noGrp="1" noChangeAspect="1"/>
          </p:cNvPicPr>
          <p:nvPr>
            <p:ph idx="1"/>
          </p:nvPr>
        </p:nvPicPr>
        <p:blipFill>
          <a:blip r:embed="rId2"/>
          <a:stretch>
            <a:fillRect/>
          </a:stretch>
        </p:blipFill>
        <p:spPr>
          <a:xfrm>
            <a:off x="772377" y="1917528"/>
            <a:ext cx="3321098" cy="3528051"/>
          </a:xfrm>
          <a:prstGeom prst="rect">
            <a:avLst/>
          </a:prstGeom>
        </p:spPr>
      </p:pic>
      <p:pic>
        <p:nvPicPr>
          <p:cNvPr id="5" name="Picture 4">
            <a:extLst>
              <a:ext uri="{FF2B5EF4-FFF2-40B4-BE49-F238E27FC236}">
                <a16:creationId xmlns:a16="http://schemas.microsoft.com/office/drawing/2014/main" id="{43D4075D-37FE-4E68-925A-8FB26B2C46EF}"/>
              </a:ext>
            </a:extLst>
          </p:cNvPr>
          <p:cNvPicPr>
            <a:picLocks noChangeAspect="1"/>
          </p:cNvPicPr>
          <p:nvPr/>
        </p:nvPicPr>
        <p:blipFill>
          <a:blip r:embed="rId3"/>
          <a:stretch>
            <a:fillRect/>
          </a:stretch>
        </p:blipFill>
        <p:spPr>
          <a:xfrm>
            <a:off x="5748501" y="1917528"/>
            <a:ext cx="4522170" cy="3989453"/>
          </a:xfrm>
          <a:prstGeom prst="rect">
            <a:avLst/>
          </a:prstGeom>
        </p:spPr>
      </p:pic>
    </p:spTree>
    <p:extLst>
      <p:ext uri="{BB962C8B-B14F-4D97-AF65-F5344CB8AC3E}">
        <p14:creationId xmlns:p14="http://schemas.microsoft.com/office/powerpoint/2010/main" val="21669424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9F995-5BB0-4E8A-8613-897D335A74A4}"/>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96CD0C6E-1081-4320-A252-35EB1EEE4414}"/>
              </a:ext>
            </a:extLst>
          </p:cNvPr>
          <p:cNvGraphicFramePr>
            <a:graphicFrameLocks noGrp="1"/>
          </p:cNvGraphicFramePr>
          <p:nvPr>
            <p:ph idx="1"/>
            <p:extLst/>
          </p:nvPr>
        </p:nvGraphicFramePr>
        <p:xfrm>
          <a:off x="838200" y="1825625"/>
          <a:ext cx="10515600" cy="34036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1711999103"/>
                    </a:ext>
                  </a:extLst>
                </a:gridCol>
                <a:gridCol w="3505200">
                  <a:extLst>
                    <a:ext uri="{9D8B030D-6E8A-4147-A177-3AD203B41FA5}">
                      <a16:colId xmlns:a16="http://schemas.microsoft.com/office/drawing/2014/main" val="2406472007"/>
                    </a:ext>
                  </a:extLst>
                </a:gridCol>
                <a:gridCol w="3505200">
                  <a:extLst>
                    <a:ext uri="{9D8B030D-6E8A-4147-A177-3AD203B41FA5}">
                      <a16:colId xmlns:a16="http://schemas.microsoft.com/office/drawing/2014/main" val="1531209188"/>
                    </a:ext>
                  </a:extLst>
                </a:gridCol>
              </a:tblGrid>
              <a:tr h="370840">
                <a:tc>
                  <a:txBody>
                    <a:bodyPr/>
                    <a:lstStyle/>
                    <a:p>
                      <a:r>
                        <a:rPr lang="en-IN" dirty="0"/>
                        <a:t>Period</a:t>
                      </a:r>
                    </a:p>
                  </a:txBody>
                  <a:tcPr anchor="ctr"/>
                </a:tc>
                <a:tc>
                  <a:txBody>
                    <a:bodyPr/>
                    <a:lstStyle/>
                    <a:p>
                      <a:r>
                        <a:rPr lang="en-IN"/>
                        <a:t>Technique</a:t>
                      </a:r>
                    </a:p>
                  </a:txBody>
                  <a:tcPr anchor="ctr"/>
                </a:tc>
                <a:tc>
                  <a:txBody>
                    <a:bodyPr/>
                    <a:lstStyle/>
                    <a:p>
                      <a:r>
                        <a:rPr lang="en-IN"/>
                        <a:t>Example</a:t>
                      </a:r>
                    </a:p>
                  </a:txBody>
                  <a:tcPr anchor="ctr"/>
                </a:tc>
                <a:extLst>
                  <a:ext uri="{0D108BD9-81ED-4DB2-BD59-A6C34878D82A}">
                    <a16:rowId xmlns:a16="http://schemas.microsoft.com/office/drawing/2014/main" val="2438856608"/>
                  </a:ext>
                </a:extLst>
              </a:tr>
              <a:tr h="370840">
                <a:tc>
                  <a:txBody>
                    <a:bodyPr/>
                    <a:lstStyle/>
                    <a:p>
                      <a:r>
                        <a:rPr lang="en-IN"/>
                        <a:t>Rule-Based AI</a:t>
                      </a:r>
                    </a:p>
                  </a:txBody>
                  <a:tcPr anchor="ctr"/>
                </a:tc>
                <a:tc>
                  <a:txBody>
                    <a:bodyPr/>
                    <a:lstStyle/>
                    <a:p>
                      <a:r>
                        <a:rPr lang="en-IN"/>
                        <a:t>Hard-coded rules</a:t>
                      </a:r>
                    </a:p>
                  </a:txBody>
                  <a:tcPr anchor="ctr"/>
                </a:tc>
                <a:tc>
                  <a:txBody>
                    <a:bodyPr/>
                    <a:lstStyle/>
                    <a:p>
                      <a:r>
                        <a:rPr lang="en-US"/>
                        <a:t>IF question = "Hi" THEN answer = "Hello"</a:t>
                      </a:r>
                    </a:p>
                  </a:txBody>
                  <a:tcPr anchor="ctr"/>
                </a:tc>
                <a:extLst>
                  <a:ext uri="{0D108BD9-81ED-4DB2-BD59-A6C34878D82A}">
                    <a16:rowId xmlns:a16="http://schemas.microsoft.com/office/drawing/2014/main" val="2843813802"/>
                  </a:ext>
                </a:extLst>
              </a:tr>
              <a:tr h="370840">
                <a:tc>
                  <a:txBody>
                    <a:bodyPr/>
                    <a:lstStyle/>
                    <a:p>
                      <a:r>
                        <a:rPr lang="en-IN"/>
                        <a:t>Classical ML</a:t>
                      </a:r>
                    </a:p>
                  </a:txBody>
                  <a:tcPr anchor="ctr"/>
                </a:tc>
                <a:tc>
                  <a:txBody>
                    <a:bodyPr/>
                    <a:lstStyle/>
                    <a:p>
                      <a:r>
                        <a:rPr lang="en-IN"/>
                        <a:t>Feature engineering</a:t>
                      </a:r>
                    </a:p>
                  </a:txBody>
                  <a:tcPr anchor="ctr"/>
                </a:tc>
                <a:tc>
                  <a:txBody>
                    <a:bodyPr/>
                    <a:lstStyle/>
                    <a:p>
                      <a:r>
                        <a:rPr lang="en-IN"/>
                        <a:t>TF-IDF + SVM for spam detection</a:t>
                      </a:r>
                    </a:p>
                  </a:txBody>
                  <a:tcPr anchor="ctr"/>
                </a:tc>
                <a:extLst>
                  <a:ext uri="{0D108BD9-81ED-4DB2-BD59-A6C34878D82A}">
                    <a16:rowId xmlns:a16="http://schemas.microsoft.com/office/drawing/2014/main" val="2422800157"/>
                  </a:ext>
                </a:extLst>
              </a:tr>
              <a:tr h="370840">
                <a:tc>
                  <a:txBody>
                    <a:bodyPr/>
                    <a:lstStyle/>
                    <a:p>
                      <a:r>
                        <a:rPr lang="en-IN"/>
                        <a:t>Deep Learning</a:t>
                      </a:r>
                    </a:p>
                  </a:txBody>
                  <a:tcPr anchor="ctr"/>
                </a:tc>
                <a:tc>
                  <a:txBody>
                    <a:bodyPr/>
                    <a:lstStyle/>
                    <a:p>
                      <a:r>
                        <a:rPr lang="en-IN"/>
                        <a:t>Task-specific fine-tuning</a:t>
                      </a:r>
                    </a:p>
                  </a:txBody>
                  <a:tcPr anchor="ctr"/>
                </a:tc>
                <a:tc>
                  <a:txBody>
                    <a:bodyPr/>
                    <a:lstStyle/>
                    <a:p>
                      <a:r>
                        <a:rPr lang="en-IN"/>
                        <a:t>Train an LSTM for sentiment analysis</a:t>
                      </a:r>
                    </a:p>
                  </a:txBody>
                  <a:tcPr anchor="ctr"/>
                </a:tc>
                <a:extLst>
                  <a:ext uri="{0D108BD9-81ED-4DB2-BD59-A6C34878D82A}">
                    <a16:rowId xmlns:a16="http://schemas.microsoft.com/office/drawing/2014/main" val="1714325905"/>
                  </a:ext>
                </a:extLst>
              </a:tr>
              <a:tr h="370840">
                <a:tc>
                  <a:txBody>
                    <a:bodyPr/>
                    <a:lstStyle/>
                    <a:p>
                      <a:r>
                        <a:rPr lang="en-IN"/>
                        <a:t>Pretrained Transformers</a:t>
                      </a:r>
                    </a:p>
                  </a:txBody>
                  <a:tcPr anchor="ctr"/>
                </a:tc>
                <a:tc>
                  <a:txBody>
                    <a:bodyPr/>
                    <a:lstStyle/>
                    <a:p>
                      <a:r>
                        <a:rPr lang="en-IN"/>
                        <a:t>Fine-tuning pretrained models</a:t>
                      </a:r>
                    </a:p>
                  </a:txBody>
                  <a:tcPr anchor="ctr"/>
                </a:tc>
                <a:tc>
                  <a:txBody>
                    <a:bodyPr/>
                    <a:lstStyle/>
                    <a:p>
                      <a:r>
                        <a:rPr lang="en-IN"/>
                        <a:t>Fine-tune BERT for classification</a:t>
                      </a:r>
                    </a:p>
                  </a:txBody>
                  <a:tcPr anchor="ctr"/>
                </a:tc>
                <a:extLst>
                  <a:ext uri="{0D108BD9-81ED-4DB2-BD59-A6C34878D82A}">
                    <a16:rowId xmlns:a16="http://schemas.microsoft.com/office/drawing/2014/main" val="3784314330"/>
                  </a:ext>
                </a:extLst>
              </a:tr>
              <a:tr h="370840">
                <a:tc>
                  <a:txBody>
                    <a:bodyPr/>
                    <a:lstStyle/>
                    <a:p>
                      <a:r>
                        <a:rPr lang="en-IN"/>
                        <a:t>Modern LLMs</a:t>
                      </a:r>
                    </a:p>
                  </a:txBody>
                  <a:tcPr anchor="ctr"/>
                </a:tc>
                <a:tc>
                  <a:txBody>
                    <a:bodyPr/>
                    <a:lstStyle/>
                    <a:p>
                      <a:r>
                        <a:rPr lang="en-IN"/>
                        <a:t>Prompt Engineering</a:t>
                      </a:r>
                    </a:p>
                  </a:txBody>
                  <a:tcPr anchor="ctr"/>
                </a:tc>
                <a:tc>
                  <a:txBody>
                    <a:bodyPr/>
                    <a:lstStyle/>
                    <a:p>
                      <a:r>
                        <a:rPr lang="en-US"/>
                        <a:t>Ask the model in natural language</a:t>
                      </a:r>
                    </a:p>
                  </a:txBody>
                  <a:tcPr anchor="ctr"/>
                </a:tc>
                <a:extLst>
                  <a:ext uri="{0D108BD9-81ED-4DB2-BD59-A6C34878D82A}">
                    <a16:rowId xmlns:a16="http://schemas.microsoft.com/office/drawing/2014/main" val="3554656141"/>
                  </a:ext>
                </a:extLst>
              </a:tr>
              <a:tr h="370840">
                <a:tc>
                  <a:txBody>
                    <a:bodyPr/>
                    <a:lstStyle/>
                    <a:p>
                      <a:r>
                        <a:rPr lang="en-IN"/>
                        <a:t>Advanced Prompting</a:t>
                      </a:r>
                    </a:p>
                  </a:txBody>
                  <a:tcPr anchor="ctr"/>
                </a:tc>
                <a:tc>
                  <a:txBody>
                    <a:bodyPr/>
                    <a:lstStyle/>
                    <a:p>
                      <a:r>
                        <a:rPr lang="en-US"/>
                        <a:t>Zero-shot, Few-shot, Chain-of-Thought, Role prompting</a:t>
                      </a:r>
                    </a:p>
                  </a:txBody>
                  <a:tcPr anchor="ctr"/>
                </a:tc>
                <a:tc>
                  <a:txBody>
                    <a:bodyPr/>
                    <a:lstStyle/>
                    <a:p>
                      <a:r>
                        <a:rPr lang="en-IN" dirty="0"/>
                        <a:t>Guide reasoning without retraining</a:t>
                      </a:r>
                    </a:p>
                  </a:txBody>
                  <a:tcPr anchor="ctr"/>
                </a:tc>
                <a:extLst>
                  <a:ext uri="{0D108BD9-81ED-4DB2-BD59-A6C34878D82A}">
                    <a16:rowId xmlns:a16="http://schemas.microsoft.com/office/drawing/2014/main" val="1408344610"/>
                  </a:ext>
                </a:extLst>
              </a:tr>
            </a:tbl>
          </a:graphicData>
        </a:graphic>
      </p:graphicFrame>
    </p:spTree>
    <p:extLst>
      <p:ext uri="{BB962C8B-B14F-4D97-AF65-F5344CB8AC3E}">
        <p14:creationId xmlns:p14="http://schemas.microsoft.com/office/powerpoint/2010/main" val="13531307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19035-43C5-4B17-8543-E108A13B79E2}"/>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916DE5AB-6CD9-4776-8E81-A53BDA4118C6}"/>
              </a:ext>
            </a:extLst>
          </p:cNvPr>
          <p:cNvPicPr>
            <a:picLocks noGrp="1" noChangeAspect="1"/>
          </p:cNvPicPr>
          <p:nvPr>
            <p:ph idx="1"/>
          </p:nvPr>
        </p:nvPicPr>
        <p:blipFill>
          <a:blip r:embed="rId2"/>
          <a:stretch>
            <a:fillRect/>
          </a:stretch>
        </p:blipFill>
        <p:spPr>
          <a:xfrm>
            <a:off x="1069522" y="66013"/>
            <a:ext cx="8678635" cy="6737054"/>
          </a:xfrm>
          <a:prstGeom prst="rect">
            <a:avLst/>
          </a:prstGeom>
        </p:spPr>
      </p:pic>
    </p:spTree>
    <p:extLst>
      <p:ext uri="{BB962C8B-B14F-4D97-AF65-F5344CB8AC3E}">
        <p14:creationId xmlns:p14="http://schemas.microsoft.com/office/powerpoint/2010/main" val="116743567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2205A-2F8C-4392-9094-248C755A8F1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8593EB4-D677-40D9-897B-D7C71DFEBABB}"/>
              </a:ext>
            </a:extLst>
          </p:cNvPr>
          <p:cNvSpPr>
            <a:spLocks noGrp="1"/>
          </p:cNvSpPr>
          <p:nvPr>
            <p:ph idx="1"/>
          </p:nvPr>
        </p:nvSpPr>
        <p:spPr/>
        <p:txBody>
          <a:bodyPr>
            <a:normAutofit fontScale="77500" lnSpcReduction="20000"/>
          </a:bodyPr>
          <a:lstStyle/>
          <a:p>
            <a:r>
              <a:rPr lang="en-US" b="1" dirty="0"/>
              <a:t>What is a Closed-Ended Prompt?</a:t>
            </a:r>
          </a:p>
          <a:p>
            <a:r>
              <a:rPr lang="en-US" dirty="0"/>
              <a:t>A </a:t>
            </a:r>
            <a:r>
              <a:rPr lang="en-US" b="1" dirty="0"/>
              <a:t>Closed-ended Prompt</a:t>
            </a:r>
            <a:r>
              <a:rPr lang="en-US" dirty="0"/>
              <a:t> is a prompt that expects a </a:t>
            </a:r>
            <a:r>
              <a:rPr lang="en-US" b="1" dirty="0"/>
              <a:t>specific, short, objective, or limited answer</a:t>
            </a:r>
            <a:r>
              <a:rPr lang="en-US" dirty="0"/>
              <a:t>.</a:t>
            </a:r>
          </a:p>
          <a:p>
            <a:r>
              <a:rPr lang="en-US" dirty="0"/>
              <a:t>The model has very little freedom to generate creative content.</a:t>
            </a:r>
          </a:p>
          <a:p>
            <a:r>
              <a:rPr lang="en-US" dirty="0"/>
              <a:t>The answer is usually</a:t>
            </a:r>
          </a:p>
          <a:p>
            <a:r>
              <a:rPr lang="en-US" dirty="0"/>
              <a:t>One word </a:t>
            </a:r>
          </a:p>
          <a:p>
            <a:r>
              <a:rPr lang="en-US" dirty="0"/>
              <a:t>One sentence </a:t>
            </a:r>
          </a:p>
          <a:p>
            <a:r>
              <a:rPr lang="en-US" dirty="0"/>
              <a:t>Yes/No </a:t>
            </a:r>
          </a:p>
          <a:p>
            <a:r>
              <a:rPr lang="en-US" dirty="0"/>
              <a:t>Number </a:t>
            </a:r>
          </a:p>
          <a:p>
            <a:r>
              <a:rPr lang="en-US" dirty="0"/>
              <a:t>Fixed list </a:t>
            </a:r>
          </a:p>
          <a:p>
            <a:r>
              <a:rPr lang="en-US" dirty="0"/>
              <a:t>Multiple Choice </a:t>
            </a:r>
          </a:p>
          <a:p>
            <a:r>
              <a:rPr lang="en-US" dirty="0"/>
              <a:t>Specific fact</a:t>
            </a:r>
          </a:p>
          <a:p>
            <a:endParaRPr lang="en-IN" dirty="0"/>
          </a:p>
        </p:txBody>
      </p:sp>
    </p:spTree>
    <p:extLst>
      <p:ext uri="{BB962C8B-B14F-4D97-AF65-F5344CB8AC3E}">
        <p14:creationId xmlns:p14="http://schemas.microsoft.com/office/powerpoint/2010/main" val="419713156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08D8D-5F35-4A72-8E3E-EA9EBE25333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908E91B-952E-42CB-8D7A-20D37C66EB50}"/>
              </a:ext>
            </a:extLst>
          </p:cNvPr>
          <p:cNvSpPr>
            <a:spLocks noGrp="1"/>
          </p:cNvSpPr>
          <p:nvPr>
            <p:ph idx="1"/>
          </p:nvPr>
        </p:nvSpPr>
        <p:spPr/>
        <p:txBody>
          <a:bodyPr>
            <a:normAutofit/>
          </a:bodyPr>
          <a:lstStyle/>
          <a:p>
            <a:r>
              <a:rPr lang="en-US" dirty="0"/>
              <a:t>What is the national animal of India?</a:t>
            </a:r>
          </a:p>
          <a:p>
            <a:r>
              <a:rPr lang="en-US" dirty="0"/>
              <a:t>Which keyword is used to define a function in Python?</a:t>
            </a:r>
          </a:p>
          <a:p>
            <a:r>
              <a:rPr lang="en-US" dirty="0"/>
              <a:t>Find the square root of 144.</a:t>
            </a:r>
          </a:p>
          <a:p>
            <a:endParaRPr lang="en-US" dirty="0"/>
          </a:p>
          <a:p>
            <a:r>
              <a:rPr lang="en-US" dirty="0"/>
              <a:t>IMPROVED CLOSED PROMPTS:</a:t>
            </a:r>
          </a:p>
          <a:p>
            <a:r>
              <a:rPr lang="en-US" dirty="0"/>
              <a:t>What does SQL stand for?</a:t>
            </a:r>
          </a:p>
          <a:p>
            <a:r>
              <a:rPr lang="en-US" dirty="0"/>
              <a:t>Output only the expanded form.</a:t>
            </a:r>
          </a:p>
          <a:p>
            <a:r>
              <a:rPr lang="en-US" dirty="0"/>
              <a:t>Do not provide any explanation.</a:t>
            </a:r>
          </a:p>
          <a:p>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315997482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AE9DE-3BD9-421B-ACDE-D40CB238DDA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1903D6-D966-40EB-98F1-B9DD0F1D5FA8}"/>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BF3005DF-1373-4C47-B7AB-C9E57E322911}"/>
              </a:ext>
            </a:extLst>
          </p:cNvPr>
          <p:cNvPicPr>
            <a:picLocks noChangeAspect="1"/>
          </p:cNvPicPr>
          <p:nvPr/>
        </p:nvPicPr>
        <p:blipFill>
          <a:blip r:embed="rId2"/>
          <a:stretch>
            <a:fillRect/>
          </a:stretch>
        </p:blipFill>
        <p:spPr>
          <a:xfrm>
            <a:off x="1747157" y="219254"/>
            <a:ext cx="6008914" cy="6492263"/>
          </a:xfrm>
          <a:prstGeom prst="rect">
            <a:avLst/>
          </a:prstGeom>
        </p:spPr>
      </p:pic>
    </p:spTree>
    <p:extLst>
      <p:ext uri="{BB962C8B-B14F-4D97-AF65-F5344CB8AC3E}">
        <p14:creationId xmlns:p14="http://schemas.microsoft.com/office/powerpoint/2010/main" val="4263906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529B7-410A-42C2-BD41-075E49C56E4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5B6C283-C99D-404D-95D3-8875A8BFD6B8}"/>
              </a:ext>
            </a:extLst>
          </p:cNvPr>
          <p:cNvSpPr>
            <a:spLocks noGrp="1"/>
          </p:cNvSpPr>
          <p:nvPr>
            <p:ph idx="1"/>
          </p:nvPr>
        </p:nvSpPr>
        <p:spPr/>
        <p:txBody>
          <a:bodyPr/>
          <a:lstStyle/>
          <a:p>
            <a:r>
              <a:rPr lang="en-US" b="1" dirty="0"/>
              <a:t>What is an Open-Ended Prompt?</a:t>
            </a:r>
          </a:p>
          <a:p>
            <a:r>
              <a:rPr lang="en-US" dirty="0"/>
              <a:t>An </a:t>
            </a:r>
            <a:r>
              <a:rPr lang="en-US" b="1" dirty="0"/>
              <a:t>Open-ended Prompt</a:t>
            </a:r>
            <a:r>
              <a:rPr lang="en-US" dirty="0"/>
              <a:t> encourages the AI to generate </a:t>
            </a:r>
            <a:r>
              <a:rPr lang="en-US" b="1" dirty="0"/>
              <a:t>creative, detailed, descriptive, or analytical responses</a:t>
            </a:r>
            <a:r>
              <a:rPr lang="en-US" dirty="0"/>
              <a:t>.</a:t>
            </a:r>
          </a:p>
          <a:p>
            <a:endParaRPr lang="en-IN" dirty="0"/>
          </a:p>
        </p:txBody>
      </p:sp>
    </p:spTree>
    <p:extLst>
      <p:ext uri="{BB962C8B-B14F-4D97-AF65-F5344CB8AC3E}">
        <p14:creationId xmlns:p14="http://schemas.microsoft.com/office/powerpoint/2010/main" val="22001945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E5F1D-3A11-4D51-99EC-37345FDB6E6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4AFBFE3-1B83-4D5A-8B05-723E797AA257}"/>
              </a:ext>
            </a:extLst>
          </p:cNvPr>
          <p:cNvSpPr>
            <a:spLocks noGrp="1"/>
          </p:cNvSpPr>
          <p:nvPr>
            <p:ph idx="1"/>
          </p:nvPr>
        </p:nvSpPr>
        <p:spPr/>
        <p:txBody>
          <a:bodyPr/>
          <a:lstStyle/>
          <a:p>
            <a:r>
              <a:rPr lang="en-US" dirty="0"/>
              <a:t>Open-ended prompts</a:t>
            </a:r>
          </a:p>
          <a:p>
            <a:r>
              <a:rPr lang="en-US" dirty="0"/>
              <a:t>✔ Encourage creativity</a:t>
            </a:r>
          </a:p>
          <a:p>
            <a:r>
              <a:rPr lang="en-US" dirty="0"/>
              <a:t>✔ Allow detailed explanations</a:t>
            </a:r>
          </a:p>
          <a:p>
            <a:r>
              <a:rPr lang="en-US" dirty="0"/>
              <a:t>✔ Produce longer responses</a:t>
            </a:r>
          </a:p>
          <a:p>
            <a:r>
              <a:rPr lang="en-US" dirty="0"/>
              <a:t>✔ Support brainstorming</a:t>
            </a:r>
          </a:p>
          <a:p>
            <a:r>
              <a:rPr lang="en-US" dirty="0"/>
              <a:t>✔ Enable storytelling</a:t>
            </a:r>
          </a:p>
          <a:p>
            <a:endParaRPr lang="en-IN" dirty="0"/>
          </a:p>
        </p:txBody>
      </p:sp>
    </p:spTree>
    <p:extLst>
      <p:ext uri="{BB962C8B-B14F-4D97-AF65-F5344CB8AC3E}">
        <p14:creationId xmlns:p14="http://schemas.microsoft.com/office/powerpoint/2010/main" val="6283618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CDE7A-E591-4269-BA4D-27B95DB04E6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0B94AF0-3DCF-4B50-8D9F-3D422559199E}"/>
              </a:ext>
            </a:extLst>
          </p:cNvPr>
          <p:cNvSpPr>
            <a:spLocks noGrp="1"/>
          </p:cNvSpPr>
          <p:nvPr>
            <p:ph idx="1"/>
          </p:nvPr>
        </p:nvSpPr>
        <p:spPr/>
        <p:txBody>
          <a:bodyPr/>
          <a:lstStyle/>
          <a:p>
            <a:r>
              <a:rPr lang="en-US" dirty="0"/>
              <a:t>Example 1 – Creative Writing Prompt Write a short story about a robot who dreams of becoming a teacher.</a:t>
            </a:r>
          </a:p>
          <a:p>
            <a:r>
              <a:rPr lang="en-US" dirty="0"/>
              <a:t>Example 2 – Essay Writing Prompt Discuss the impact of Artificial Intelligence on modern education.</a:t>
            </a:r>
          </a:p>
          <a:p>
            <a:endParaRPr lang="en-IN" dirty="0"/>
          </a:p>
        </p:txBody>
      </p:sp>
    </p:spTree>
    <p:extLst>
      <p:ext uri="{BB962C8B-B14F-4D97-AF65-F5344CB8AC3E}">
        <p14:creationId xmlns:p14="http://schemas.microsoft.com/office/powerpoint/2010/main" val="32861891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68B63-258F-4719-B03E-E34F03AF9414}"/>
              </a:ext>
            </a:extLst>
          </p:cNvPr>
          <p:cNvSpPr>
            <a:spLocks noGrp="1"/>
          </p:cNvSpPr>
          <p:nvPr>
            <p:ph type="title"/>
          </p:nvPr>
        </p:nvSpPr>
        <p:spPr/>
        <p:txBody>
          <a:bodyPr/>
          <a:lstStyle/>
          <a:p>
            <a:r>
              <a:rPr lang="en-IN" dirty="0"/>
              <a:t>Improving Open Prompts</a:t>
            </a:r>
          </a:p>
        </p:txBody>
      </p:sp>
      <p:pic>
        <p:nvPicPr>
          <p:cNvPr id="5" name="Content Placeholder 4">
            <a:extLst>
              <a:ext uri="{FF2B5EF4-FFF2-40B4-BE49-F238E27FC236}">
                <a16:creationId xmlns:a16="http://schemas.microsoft.com/office/drawing/2014/main" id="{BFE82720-F9CC-463B-90CD-47375D2DC5E8}"/>
              </a:ext>
            </a:extLst>
          </p:cNvPr>
          <p:cNvPicPr>
            <a:picLocks noGrp="1" noChangeAspect="1"/>
          </p:cNvPicPr>
          <p:nvPr>
            <p:ph idx="1"/>
          </p:nvPr>
        </p:nvPicPr>
        <p:blipFill>
          <a:blip r:embed="rId2"/>
          <a:stretch>
            <a:fillRect/>
          </a:stretch>
        </p:blipFill>
        <p:spPr>
          <a:xfrm>
            <a:off x="2653393" y="1463462"/>
            <a:ext cx="6213021" cy="5038256"/>
          </a:xfrm>
          <a:prstGeom prst="rect">
            <a:avLst/>
          </a:prstGeom>
        </p:spPr>
      </p:pic>
    </p:spTree>
    <p:extLst>
      <p:ext uri="{BB962C8B-B14F-4D97-AF65-F5344CB8AC3E}">
        <p14:creationId xmlns:p14="http://schemas.microsoft.com/office/powerpoint/2010/main" val="21334812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8EAFC-A3ED-4C64-B7DD-A685D5B761D1}"/>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1946DE7C-CC00-494C-9FA2-6344392EA5CA}"/>
              </a:ext>
            </a:extLst>
          </p:cNvPr>
          <p:cNvGraphicFramePr>
            <a:graphicFrameLocks noGrp="1"/>
          </p:cNvGraphicFramePr>
          <p:nvPr>
            <p:ph idx="1"/>
            <p:extLst/>
          </p:nvPr>
        </p:nvGraphicFramePr>
        <p:xfrm>
          <a:off x="838200" y="1825625"/>
          <a:ext cx="10515600" cy="323596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1160419150"/>
                    </a:ext>
                  </a:extLst>
                </a:gridCol>
                <a:gridCol w="3505200">
                  <a:extLst>
                    <a:ext uri="{9D8B030D-6E8A-4147-A177-3AD203B41FA5}">
                      <a16:colId xmlns:a16="http://schemas.microsoft.com/office/drawing/2014/main" val="4203480403"/>
                    </a:ext>
                  </a:extLst>
                </a:gridCol>
                <a:gridCol w="3505200">
                  <a:extLst>
                    <a:ext uri="{9D8B030D-6E8A-4147-A177-3AD203B41FA5}">
                      <a16:colId xmlns:a16="http://schemas.microsoft.com/office/drawing/2014/main" val="1728929155"/>
                    </a:ext>
                  </a:extLst>
                </a:gridCol>
              </a:tblGrid>
              <a:tr h="370840">
                <a:tc>
                  <a:txBody>
                    <a:bodyPr/>
                    <a:lstStyle/>
                    <a:p>
                      <a:r>
                        <a:rPr lang="en-IN" dirty="0"/>
                        <a:t>Feature</a:t>
                      </a:r>
                    </a:p>
                  </a:txBody>
                  <a:tcPr anchor="ctr"/>
                </a:tc>
                <a:tc>
                  <a:txBody>
                    <a:bodyPr/>
                    <a:lstStyle/>
                    <a:p>
                      <a:r>
                        <a:rPr lang="en-IN"/>
                        <a:t>Closed-Ended Prompt</a:t>
                      </a:r>
                    </a:p>
                  </a:txBody>
                  <a:tcPr anchor="ctr"/>
                </a:tc>
                <a:tc>
                  <a:txBody>
                    <a:bodyPr/>
                    <a:lstStyle/>
                    <a:p>
                      <a:r>
                        <a:rPr lang="en-IN"/>
                        <a:t>Open-Ended Prompt</a:t>
                      </a:r>
                    </a:p>
                  </a:txBody>
                  <a:tcPr anchor="ctr"/>
                </a:tc>
                <a:extLst>
                  <a:ext uri="{0D108BD9-81ED-4DB2-BD59-A6C34878D82A}">
                    <a16:rowId xmlns:a16="http://schemas.microsoft.com/office/drawing/2014/main" val="244373089"/>
                  </a:ext>
                </a:extLst>
              </a:tr>
              <a:tr h="370840">
                <a:tc>
                  <a:txBody>
                    <a:bodyPr/>
                    <a:lstStyle/>
                    <a:p>
                      <a:r>
                        <a:rPr lang="en-IN"/>
                        <a:t>Expected Response</a:t>
                      </a:r>
                    </a:p>
                  </a:txBody>
                  <a:tcPr anchor="ctr"/>
                </a:tc>
                <a:tc>
                  <a:txBody>
                    <a:bodyPr/>
                    <a:lstStyle/>
                    <a:p>
                      <a:r>
                        <a:rPr lang="en-IN"/>
                        <a:t>Specific</a:t>
                      </a:r>
                    </a:p>
                  </a:txBody>
                  <a:tcPr anchor="ctr"/>
                </a:tc>
                <a:tc>
                  <a:txBody>
                    <a:bodyPr/>
                    <a:lstStyle/>
                    <a:p>
                      <a:r>
                        <a:rPr lang="en-IN"/>
                        <a:t>Creative or descriptive</a:t>
                      </a:r>
                    </a:p>
                  </a:txBody>
                  <a:tcPr anchor="ctr"/>
                </a:tc>
                <a:extLst>
                  <a:ext uri="{0D108BD9-81ED-4DB2-BD59-A6C34878D82A}">
                    <a16:rowId xmlns:a16="http://schemas.microsoft.com/office/drawing/2014/main" val="655973449"/>
                  </a:ext>
                </a:extLst>
              </a:tr>
              <a:tr h="370840">
                <a:tc>
                  <a:txBody>
                    <a:bodyPr/>
                    <a:lstStyle/>
                    <a:p>
                      <a:r>
                        <a:rPr lang="en-IN"/>
                        <a:t>Length</a:t>
                      </a:r>
                    </a:p>
                  </a:txBody>
                  <a:tcPr anchor="ctr"/>
                </a:tc>
                <a:tc>
                  <a:txBody>
                    <a:bodyPr/>
                    <a:lstStyle/>
                    <a:p>
                      <a:r>
                        <a:rPr lang="en-IN"/>
                        <a:t>Short</a:t>
                      </a:r>
                    </a:p>
                  </a:txBody>
                  <a:tcPr anchor="ctr"/>
                </a:tc>
                <a:tc>
                  <a:txBody>
                    <a:bodyPr/>
                    <a:lstStyle/>
                    <a:p>
                      <a:r>
                        <a:rPr lang="en-IN"/>
                        <a:t>Long</a:t>
                      </a:r>
                    </a:p>
                  </a:txBody>
                  <a:tcPr anchor="ctr"/>
                </a:tc>
                <a:extLst>
                  <a:ext uri="{0D108BD9-81ED-4DB2-BD59-A6C34878D82A}">
                    <a16:rowId xmlns:a16="http://schemas.microsoft.com/office/drawing/2014/main" val="893366003"/>
                  </a:ext>
                </a:extLst>
              </a:tr>
              <a:tr h="370840">
                <a:tc>
                  <a:txBody>
                    <a:bodyPr/>
                    <a:lstStyle/>
                    <a:p>
                      <a:r>
                        <a:rPr lang="en-IN"/>
                        <a:t>Number of Correct Answers</a:t>
                      </a:r>
                    </a:p>
                  </a:txBody>
                  <a:tcPr anchor="ctr"/>
                </a:tc>
                <a:tc>
                  <a:txBody>
                    <a:bodyPr/>
                    <a:lstStyle/>
                    <a:p>
                      <a:r>
                        <a:rPr lang="en-IN"/>
                        <a:t>Usually one</a:t>
                      </a:r>
                    </a:p>
                  </a:txBody>
                  <a:tcPr anchor="ctr"/>
                </a:tc>
                <a:tc>
                  <a:txBody>
                    <a:bodyPr/>
                    <a:lstStyle/>
                    <a:p>
                      <a:r>
                        <a:rPr lang="en-IN"/>
                        <a:t>Many possible answers</a:t>
                      </a:r>
                    </a:p>
                  </a:txBody>
                  <a:tcPr anchor="ctr"/>
                </a:tc>
                <a:extLst>
                  <a:ext uri="{0D108BD9-81ED-4DB2-BD59-A6C34878D82A}">
                    <a16:rowId xmlns:a16="http://schemas.microsoft.com/office/drawing/2014/main" val="1011401317"/>
                  </a:ext>
                </a:extLst>
              </a:tr>
              <a:tr h="370840">
                <a:tc>
                  <a:txBody>
                    <a:bodyPr/>
                    <a:lstStyle/>
                    <a:p>
                      <a:r>
                        <a:rPr lang="en-IN"/>
                        <a:t>Creativity</a:t>
                      </a:r>
                    </a:p>
                  </a:txBody>
                  <a:tcPr anchor="ctr"/>
                </a:tc>
                <a:tc>
                  <a:txBody>
                    <a:bodyPr/>
                    <a:lstStyle/>
                    <a:p>
                      <a:r>
                        <a:rPr lang="en-IN"/>
                        <a:t>Low</a:t>
                      </a:r>
                    </a:p>
                  </a:txBody>
                  <a:tcPr anchor="ctr"/>
                </a:tc>
                <a:tc>
                  <a:txBody>
                    <a:bodyPr/>
                    <a:lstStyle/>
                    <a:p>
                      <a:r>
                        <a:rPr lang="en-IN"/>
                        <a:t>High</a:t>
                      </a:r>
                    </a:p>
                  </a:txBody>
                  <a:tcPr anchor="ctr"/>
                </a:tc>
                <a:extLst>
                  <a:ext uri="{0D108BD9-81ED-4DB2-BD59-A6C34878D82A}">
                    <a16:rowId xmlns:a16="http://schemas.microsoft.com/office/drawing/2014/main" val="537489065"/>
                  </a:ext>
                </a:extLst>
              </a:tr>
              <a:tr h="370840">
                <a:tc>
                  <a:txBody>
                    <a:bodyPr/>
                    <a:lstStyle/>
                    <a:p>
                      <a:r>
                        <a:rPr lang="en-IN"/>
                        <a:t>Evaluation</a:t>
                      </a:r>
                    </a:p>
                  </a:txBody>
                  <a:tcPr anchor="ctr"/>
                </a:tc>
                <a:tc>
                  <a:txBody>
                    <a:bodyPr/>
                    <a:lstStyle/>
                    <a:p>
                      <a:r>
                        <a:rPr lang="en-IN"/>
                        <a:t>Easy</a:t>
                      </a:r>
                    </a:p>
                  </a:txBody>
                  <a:tcPr anchor="ctr"/>
                </a:tc>
                <a:tc>
                  <a:txBody>
                    <a:bodyPr/>
                    <a:lstStyle/>
                    <a:p>
                      <a:r>
                        <a:rPr lang="en-IN"/>
                        <a:t>Subjective</a:t>
                      </a:r>
                    </a:p>
                  </a:txBody>
                  <a:tcPr anchor="ctr"/>
                </a:tc>
                <a:extLst>
                  <a:ext uri="{0D108BD9-81ED-4DB2-BD59-A6C34878D82A}">
                    <a16:rowId xmlns:a16="http://schemas.microsoft.com/office/drawing/2014/main" val="1846968153"/>
                  </a:ext>
                </a:extLst>
              </a:tr>
              <a:tr h="370840">
                <a:tc>
                  <a:txBody>
                    <a:bodyPr/>
                    <a:lstStyle/>
                    <a:p>
                      <a:r>
                        <a:rPr lang="en-IN"/>
                        <a:t>AI Freedom</a:t>
                      </a:r>
                    </a:p>
                  </a:txBody>
                  <a:tcPr anchor="ctr"/>
                </a:tc>
                <a:tc>
                  <a:txBody>
                    <a:bodyPr/>
                    <a:lstStyle/>
                    <a:p>
                      <a:r>
                        <a:rPr lang="en-IN"/>
                        <a:t>Limited</a:t>
                      </a:r>
                    </a:p>
                  </a:txBody>
                  <a:tcPr anchor="ctr"/>
                </a:tc>
                <a:tc>
                  <a:txBody>
                    <a:bodyPr/>
                    <a:lstStyle/>
                    <a:p>
                      <a:r>
                        <a:rPr lang="en-IN"/>
                        <a:t>High</a:t>
                      </a:r>
                    </a:p>
                  </a:txBody>
                  <a:tcPr anchor="ctr"/>
                </a:tc>
                <a:extLst>
                  <a:ext uri="{0D108BD9-81ED-4DB2-BD59-A6C34878D82A}">
                    <a16:rowId xmlns:a16="http://schemas.microsoft.com/office/drawing/2014/main" val="1232055795"/>
                  </a:ext>
                </a:extLst>
              </a:tr>
              <a:tr h="370840">
                <a:tc>
                  <a:txBody>
                    <a:bodyPr/>
                    <a:lstStyle/>
                    <a:p>
                      <a:r>
                        <a:rPr lang="en-IN"/>
                        <a:t>Best Use Cases</a:t>
                      </a:r>
                    </a:p>
                  </a:txBody>
                  <a:tcPr anchor="ctr"/>
                </a:tc>
                <a:tc>
                  <a:txBody>
                    <a:bodyPr/>
                    <a:lstStyle/>
                    <a:p>
                      <a:r>
                        <a:rPr lang="en-IN"/>
                        <a:t>Facts, quizzes, FAQs</a:t>
                      </a:r>
                    </a:p>
                  </a:txBody>
                  <a:tcPr anchor="ctr"/>
                </a:tc>
                <a:tc>
                  <a:txBody>
                    <a:bodyPr/>
                    <a:lstStyle/>
                    <a:p>
                      <a:r>
                        <a:rPr lang="en-IN" dirty="0"/>
                        <a:t>Blogs, reports, brainstorming, stories</a:t>
                      </a:r>
                    </a:p>
                  </a:txBody>
                  <a:tcPr anchor="ctr"/>
                </a:tc>
                <a:extLst>
                  <a:ext uri="{0D108BD9-81ED-4DB2-BD59-A6C34878D82A}">
                    <a16:rowId xmlns:a16="http://schemas.microsoft.com/office/drawing/2014/main" val="904073825"/>
                  </a:ext>
                </a:extLst>
              </a:tr>
            </a:tbl>
          </a:graphicData>
        </a:graphic>
      </p:graphicFrame>
    </p:spTree>
    <p:extLst>
      <p:ext uri="{BB962C8B-B14F-4D97-AF65-F5344CB8AC3E}">
        <p14:creationId xmlns:p14="http://schemas.microsoft.com/office/powerpoint/2010/main" val="33728529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D316D-19BD-4B5D-872B-123CE784400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E88EC9F-12CA-458C-A82C-B67394915534}"/>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C989362D-1686-497B-9B99-B92189BD5D41}"/>
              </a:ext>
            </a:extLst>
          </p:cNvPr>
          <p:cNvPicPr>
            <a:picLocks noChangeAspect="1"/>
          </p:cNvPicPr>
          <p:nvPr/>
        </p:nvPicPr>
        <p:blipFill>
          <a:blip r:embed="rId2"/>
          <a:stretch>
            <a:fillRect/>
          </a:stretch>
        </p:blipFill>
        <p:spPr>
          <a:xfrm>
            <a:off x="838200" y="545127"/>
            <a:ext cx="9799864" cy="6061455"/>
          </a:xfrm>
          <a:prstGeom prst="rect">
            <a:avLst/>
          </a:prstGeom>
        </p:spPr>
      </p:pic>
    </p:spTree>
    <p:extLst>
      <p:ext uri="{BB962C8B-B14F-4D97-AF65-F5344CB8AC3E}">
        <p14:creationId xmlns:p14="http://schemas.microsoft.com/office/powerpoint/2010/main" val="33053289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2F4D3-9791-4599-BFFE-1AB240F973F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5B10743-150E-4394-997B-43FE56342927}"/>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2DA9AB28-BA35-40A6-909F-16C7B9D4B547}"/>
              </a:ext>
            </a:extLst>
          </p:cNvPr>
          <p:cNvPicPr>
            <a:picLocks noChangeAspect="1"/>
          </p:cNvPicPr>
          <p:nvPr/>
        </p:nvPicPr>
        <p:blipFill>
          <a:blip r:embed="rId2"/>
          <a:stretch>
            <a:fillRect/>
          </a:stretch>
        </p:blipFill>
        <p:spPr>
          <a:xfrm>
            <a:off x="592970" y="681037"/>
            <a:ext cx="11615646" cy="4037920"/>
          </a:xfrm>
          <a:prstGeom prst="rect">
            <a:avLst/>
          </a:prstGeom>
        </p:spPr>
      </p:pic>
    </p:spTree>
    <p:extLst>
      <p:ext uri="{BB962C8B-B14F-4D97-AF65-F5344CB8AC3E}">
        <p14:creationId xmlns:p14="http://schemas.microsoft.com/office/powerpoint/2010/main" val="344606085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21968-A68E-4D92-97C8-9297FE2C4667}"/>
              </a:ext>
            </a:extLst>
          </p:cNvPr>
          <p:cNvSpPr>
            <a:spLocks noGrp="1"/>
          </p:cNvSpPr>
          <p:nvPr>
            <p:ph type="title"/>
          </p:nvPr>
        </p:nvSpPr>
        <p:spPr/>
        <p:txBody>
          <a:bodyPr/>
          <a:lstStyle/>
          <a:p>
            <a:r>
              <a:rPr lang="en-US" dirty="0" err="1"/>
              <a:t>qa</a:t>
            </a:r>
            <a:endParaRPr lang="en-IN" dirty="0"/>
          </a:p>
        </p:txBody>
      </p:sp>
      <p:sp>
        <p:nvSpPr>
          <p:cNvPr id="3" name="Content Placeholder 2">
            <a:extLst>
              <a:ext uri="{FF2B5EF4-FFF2-40B4-BE49-F238E27FC236}">
                <a16:creationId xmlns:a16="http://schemas.microsoft.com/office/drawing/2014/main" id="{38237E3D-7D8C-416F-932A-5C190C3F1FE6}"/>
              </a:ext>
            </a:extLst>
          </p:cNvPr>
          <p:cNvSpPr>
            <a:spLocks noGrp="1"/>
          </p:cNvSpPr>
          <p:nvPr>
            <p:ph idx="1"/>
          </p:nvPr>
        </p:nvSpPr>
        <p:spPr/>
        <p:txBody>
          <a:bodyPr/>
          <a:lstStyle/>
          <a:p>
            <a:r>
              <a:rPr lang="en-US" dirty="0"/>
              <a:t>Probing Prompts – Used to understand model behavior, reasoning, and potential biases.</a:t>
            </a:r>
          </a:p>
          <a:p>
            <a:r>
              <a:rPr lang="en-US" dirty="0"/>
              <a:t>Adversarial Prompts – Used to challenge and stress-test AI models for robustness and safety.</a:t>
            </a:r>
            <a:endParaRPr lang="en-IN" dirty="0"/>
          </a:p>
        </p:txBody>
      </p:sp>
    </p:spTree>
    <p:extLst>
      <p:ext uri="{BB962C8B-B14F-4D97-AF65-F5344CB8AC3E}">
        <p14:creationId xmlns:p14="http://schemas.microsoft.com/office/powerpoint/2010/main" val="39593433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08F1D-C529-4266-BC8B-9FE450E444A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B1E218-9AE5-4AF0-B779-87FE12283872}"/>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6257C78A-04C0-49F4-9609-2CCAA6397215}"/>
              </a:ext>
            </a:extLst>
          </p:cNvPr>
          <p:cNvPicPr>
            <a:picLocks noChangeAspect="1"/>
          </p:cNvPicPr>
          <p:nvPr/>
        </p:nvPicPr>
        <p:blipFill>
          <a:blip r:embed="rId2"/>
          <a:stretch>
            <a:fillRect/>
          </a:stretch>
        </p:blipFill>
        <p:spPr>
          <a:xfrm>
            <a:off x="318782" y="455536"/>
            <a:ext cx="11873218" cy="5509036"/>
          </a:xfrm>
          <a:prstGeom prst="rect">
            <a:avLst/>
          </a:prstGeom>
        </p:spPr>
      </p:pic>
    </p:spTree>
    <p:extLst>
      <p:ext uri="{BB962C8B-B14F-4D97-AF65-F5344CB8AC3E}">
        <p14:creationId xmlns:p14="http://schemas.microsoft.com/office/powerpoint/2010/main" val="10216571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77E8B-EE70-4808-BE1F-DC512C18501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93A7B7-D384-4923-9302-DA0BD322D2BA}"/>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2B193EA5-DAB2-497A-B432-C288A3C332B0}"/>
              </a:ext>
            </a:extLst>
          </p:cNvPr>
          <p:cNvPicPr>
            <a:picLocks noChangeAspect="1"/>
          </p:cNvPicPr>
          <p:nvPr/>
        </p:nvPicPr>
        <p:blipFill>
          <a:blip r:embed="rId2"/>
          <a:stretch>
            <a:fillRect/>
          </a:stretch>
        </p:blipFill>
        <p:spPr>
          <a:xfrm>
            <a:off x="1359016" y="280163"/>
            <a:ext cx="9513115" cy="6270297"/>
          </a:xfrm>
          <a:prstGeom prst="rect">
            <a:avLst/>
          </a:prstGeom>
        </p:spPr>
      </p:pic>
    </p:spTree>
    <p:extLst>
      <p:ext uri="{BB962C8B-B14F-4D97-AF65-F5344CB8AC3E}">
        <p14:creationId xmlns:p14="http://schemas.microsoft.com/office/powerpoint/2010/main" val="11020682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C7724-578F-4E16-94B3-4642CA3CE5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D0DCE2E-BB9B-467B-9439-6432A4012484}"/>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72B29D54-7B85-4D76-A6A9-52A6E7B4CFC7}"/>
              </a:ext>
            </a:extLst>
          </p:cNvPr>
          <p:cNvPicPr>
            <a:picLocks noChangeAspect="1"/>
          </p:cNvPicPr>
          <p:nvPr/>
        </p:nvPicPr>
        <p:blipFill>
          <a:blip r:embed="rId2"/>
          <a:stretch>
            <a:fillRect/>
          </a:stretch>
        </p:blipFill>
        <p:spPr>
          <a:xfrm>
            <a:off x="1363436" y="617689"/>
            <a:ext cx="9055819" cy="4999339"/>
          </a:xfrm>
          <a:prstGeom prst="rect">
            <a:avLst/>
          </a:prstGeom>
        </p:spPr>
      </p:pic>
    </p:spTree>
    <p:extLst>
      <p:ext uri="{BB962C8B-B14F-4D97-AF65-F5344CB8AC3E}">
        <p14:creationId xmlns:p14="http://schemas.microsoft.com/office/powerpoint/2010/main" val="216789541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7EF12-3439-4387-B2A2-0A436A7345C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25F2A73-25FF-478F-803D-648366ADBB30}"/>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8ABFC840-2D8B-4964-963D-FECC0CB56A00}"/>
              </a:ext>
            </a:extLst>
          </p:cNvPr>
          <p:cNvPicPr>
            <a:picLocks noChangeAspect="1"/>
          </p:cNvPicPr>
          <p:nvPr/>
        </p:nvPicPr>
        <p:blipFill>
          <a:blip r:embed="rId2"/>
          <a:stretch>
            <a:fillRect/>
          </a:stretch>
        </p:blipFill>
        <p:spPr>
          <a:xfrm>
            <a:off x="935045" y="1027905"/>
            <a:ext cx="10308575" cy="4548301"/>
          </a:xfrm>
          <a:prstGeom prst="rect">
            <a:avLst/>
          </a:prstGeom>
        </p:spPr>
      </p:pic>
    </p:spTree>
    <p:extLst>
      <p:ext uri="{BB962C8B-B14F-4D97-AF65-F5344CB8AC3E}">
        <p14:creationId xmlns:p14="http://schemas.microsoft.com/office/powerpoint/2010/main" val="163523519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9EDB5-BAFA-495A-8777-781F1412013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0289471-7D82-44A9-8155-F8F80045CBC9}"/>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5DF6795B-A805-4DC4-9983-9FE75B3F8CEE}"/>
              </a:ext>
            </a:extLst>
          </p:cNvPr>
          <p:cNvPicPr>
            <a:picLocks noChangeAspect="1"/>
          </p:cNvPicPr>
          <p:nvPr/>
        </p:nvPicPr>
        <p:blipFill>
          <a:blip r:embed="rId2"/>
          <a:stretch>
            <a:fillRect/>
          </a:stretch>
        </p:blipFill>
        <p:spPr>
          <a:xfrm>
            <a:off x="1358947" y="1027906"/>
            <a:ext cx="8323896" cy="4167580"/>
          </a:xfrm>
          <a:prstGeom prst="rect">
            <a:avLst/>
          </a:prstGeom>
        </p:spPr>
      </p:pic>
    </p:spTree>
    <p:extLst>
      <p:ext uri="{BB962C8B-B14F-4D97-AF65-F5344CB8AC3E}">
        <p14:creationId xmlns:p14="http://schemas.microsoft.com/office/powerpoint/2010/main" val="20947388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8902E-FB73-4EE5-85B9-F9DE95000598}"/>
              </a:ext>
            </a:extLst>
          </p:cNvPr>
          <p:cNvSpPr>
            <a:spLocks noGrp="1"/>
          </p:cNvSpPr>
          <p:nvPr>
            <p:ph type="title"/>
          </p:nvPr>
        </p:nvSpPr>
        <p:spPr/>
        <p:txBody>
          <a:bodyPr/>
          <a:lstStyle/>
          <a:p>
            <a:r>
              <a:rPr lang="en-US" dirty="0"/>
              <a:t>Activity-probing prompt</a:t>
            </a:r>
            <a:endParaRPr lang="en-IN" dirty="0"/>
          </a:p>
        </p:txBody>
      </p:sp>
      <p:sp>
        <p:nvSpPr>
          <p:cNvPr id="3" name="Content Placeholder 2">
            <a:extLst>
              <a:ext uri="{FF2B5EF4-FFF2-40B4-BE49-F238E27FC236}">
                <a16:creationId xmlns:a16="http://schemas.microsoft.com/office/drawing/2014/main" id="{DBF564AE-955C-46D9-B9FF-E1EECBAA6071}"/>
              </a:ext>
            </a:extLst>
          </p:cNvPr>
          <p:cNvSpPr>
            <a:spLocks noGrp="1"/>
          </p:cNvSpPr>
          <p:nvPr>
            <p:ph idx="1"/>
          </p:nvPr>
        </p:nvSpPr>
        <p:spPr/>
        <p:txBody>
          <a:bodyPr/>
          <a:lstStyle/>
          <a:p>
            <a:r>
              <a:rPr lang="en-IN" dirty="0"/>
              <a:t>Explain Machine Learning.</a:t>
            </a:r>
          </a:p>
          <a:p>
            <a:endParaRPr lang="en-US" dirty="0"/>
          </a:p>
          <a:p>
            <a:r>
              <a:rPr lang="en-US" dirty="0"/>
              <a:t>Why is Machine Learning important?</a:t>
            </a:r>
          </a:p>
          <a:p>
            <a:r>
              <a:rPr lang="en-US" dirty="0"/>
              <a:t>Compare Machine Learning and Deep Learning.</a:t>
            </a:r>
          </a:p>
          <a:p>
            <a:r>
              <a:rPr lang="en-US" dirty="0"/>
              <a:t>What are the limitations of Machine Learning?</a:t>
            </a:r>
            <a:endParaRPr lang="en-IN" dirty="0"/>
          </a:p>
        </p:txBody>
      </p:sp>
    </p:spTree>
    <p:extLst>
      <p:ext uri="{BB962C8B-B14F-4D97-AF65-F5344CB8AC3E}">
        <p14:creationId xmlns:p14="http://schemas.microsoft.com/office/powerpoint/2010/main" val="164637353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A81F3-4607-4B8E-AE78-3092A831E116}"/>
              </a:ext>
            </a:extLst>
          </p:cNvPr>
          <p:cNvSpPr>
            <a:spLocks noGrp="1"/>
          </p:cNvSpPr>
          <p:nvPr>
            <p:ph type="title"/>
          </p:nvPr>
        </p:nvSpPr>
        <p:spPr/>
        <p:txBody>
          <a:bodyPr/>
          <a:lstStyle/>
          <a:p>
            <a:r>
              <a:rPr lang="en-US" dirty="0"/>
              <a:t>Bias</a:t>
            </a:r>
            <a:endParaRPr lang="en-IN" dirty="0"/>
          </a:p>
        </p:txBody>
      </p:sp>
      <p:sp>
        <p:nvSpPr>
          <p:cNvPr id="3" name="Content Placeholder 2">
            <a:extLst>
              <a:ext uri="{FF2B5EF4-FFF2-40B4-BE49-F238E27FC236}">
                <a16:creationId xmlns:a16="http://schemas.microsoft.com/office/drawing/2014/main" id="{CAB5F95B-B7BF-4D10-ACDE-06D15D60A18D}"/>
              </a:ext>
            </a:extLst>
          </p:cNvPr>
          <p:cNvSpPr>
            <a:spLocks noGrp="1"/>
          </p:cNvSpPr>
          <p:nvPr>
            <p:ph idx="1"/>
          </p:nvPr>
        </p:nvSpPr>
        <p:spPr/>
        <p:txBody>
          <a:bodyPr/>
          <a:lstStyle/>
          <a:p>
            <a:r>
              <a:rPr lang="en-US" dirty="0"/>
              <a:t>Example 1 – Occupation Bias</a:t>
            </a:r>
          </a:p>
          <a:p>
            <a:r>
              <a:rPr lang="en-US" dirty="0"/>
              <a:t>Prompt</a:t>
            </a:r>
          </a:p>
          <a:p>
            <a:r>
              <a:rPr lang="en-US" dirty="0"/>
              <a:t>Describe a software engineer.</a:t>
            </a:r>
          </a:p>
          <a:p>
            <a:endParaRPr lang="en-US" dirty="0"/>
          </a:p>
          <a:p>
            <a:r>
              <a:rPr lang="en-US" dirty="0"/>
              <a:t>Does the AI assume gender?</a:t>
            </a:r>
          </a:p>
          <a:p>
            <a:r>
              <a:rPr lang="en-US" dirty="0"/>
              <a:t>Does it mention only one demographic?</a:t>
            </a:r>
          </a:p>
          <a:p>
            <a:r>
              <a:rPr lang="en-US" dirty="0"/>
              <a:t>Does it present a balanced description?</a:t>
            </a:r>
            <a:endParaRPr lang="en-IN" dirty="0"/>
          </a:p>
        </p:txBody>
      </p:sp>
    </p:spTree>
    <p:extLst>
      <p:ext uri="{BB962C8B-B14F-4D97-AF65-F5344CB8AC3E}">
        <p14:creationId xmlns:p14="http://schemas.microsoft.com/office/powerpoint/2010/main" val="107733846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56800-12B9-488E-9865-EF69BEEEB03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7011C9C-4141-4A68-B23E-0EDEFECD6F13}"/>
              </a:ext>
            </a:extLst>
          </p:cNvPr>
          <p:cNvSpPr>
            <a:spLocks noGrp="1"/>
          </p:cNvSpPr>
          <p:nvPr>
            <p:ph idx="1"/>
          </p:nvPr>
        </p:nvSpPr>
        <p:spPr/>
        <p:txBody>
          <a:bodyPr/>
          <a:lstStyle/>
          <a:p>
            <a:r>
              <a:rPr lang="en-US" dirty="0"/>
              <a:t>Educational Bias</a:t>
            </a:r>
          </a:p>
          <a:p>
            <a:r>
              <a:rPr lang="en-US" dirty="0"/>
              <a:t>Prompt</a:t>
            </a:r>
          </a:p>
          <a:p>
            <a:r>
              <a:rPr lang="en-US" dirty="0"/>
              <a:t>Can students from rural areas become AI engineers?</a:t>
            </a:r>
            <a:endParaRPr lang="en-IN" dirty="0"/>
          </a:p>
        </p:txBody>
      </p:sp>
    </p:spTree>
    <p:extLst>
      <p:ext uri="{BB962C8B-B14F-4D97-AF65-F5344CB8AC3E}">
        <p14:creationId xmlns:p14="http://schemas.microsoft.com/office/powerpoint/2010/main" val="288126199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5962E-31D9-41BC-B78C-4A8CD80AAB8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F3D0F0-E3C7-4DF4-A337-D04F374BC9C4}"/>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33E938FA-39EE-4B97-8E51-7C0FC2A1E308}"/>
              </a:ext>
            </a:extLst>
          </p:cNvPr>
          <p:cNvPicPr>
            <a:picLocks noChangeAspect="1"/>
          </p:cNvPicPr>
          <p:nvPr/>
        </p:nvPicPr>
        <p:blipFill>
          <a:blip r:embed="rId2"/>
          <a:stretch>
            <a:fillRect/>
          </a:stretch>
        </p:blipFill>
        <p:spPr>
          <a:xfrm>
            <a:off x="377370" y="828609"/>
            <a:ext cx="10551757" cy="4069963"/>
          </a:xfrm>
          <a:prstGeom prst="rect">
            <a:avLst/>
          </a:prstGeom>
        </p:spPr>
      </p:pic>
    </p:spTree>
    <p:extLst>
      <p:ext uri="{BB962C8B-B14F-4D97-AF65-F5344CB8AC3E}">
        <p14:creationId xmlns:p14="http://schemas.microsoft.com/office/powerpoint/2010/main" val="85217231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C67B2-AA94-4539-9267-20276058FA9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448BB25-5DA1-4D55-BAC0-A06F1E2CDA7E}"/>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218FA31D-5BB6-40A4-BDA2-50B42BBEF4EC}"/>
              </a:ext>
            </a:extLst>
          </p:cNvPr>
          <p:cNvPicPr>
            <a:picLocks noChangeAspect="1"/>
          </p:cNvPicPr>
          <p:nvPr/>
        </p:nvPicPr>
        <p:blipFill>
          <a:blip r:embed="rId2"/>
          <a:stretch>
            <a:fillRect/>
          </a:stretch>
        </p:blipFill>
        <p:spPr>
          <a:xfrm>
            <a:off x="1066980" y="795399"/>
            <a:ext cx="9772483" cy="4274622"/>
          </a:xfrm>
          <a:prstGeom prst="rect">
            <a:avLst/>
          </a:prstGeom>
        </p:spPr>
      </p:pic>
    </p:spTree>
    <p:extLst>
      <p:ext uri="{BB962C8B-B14F-4D97-AF65-F5344CB8AC3E}">
        <p14:creationId xmlns:p14="http://schemas.microsoft.com/office/powerpoint/2010/main" val="323970183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C4120-FAAC-47A2-9E91-F7BDFE777F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AA9689E-A9E2-4FE4-AA87-78D9D891A84D}"/>
              </a:ext>
            </a:extLst>
          </p:cNvPr>
          <p:cNvSpPr>
            <a:spLocks noGrp="1"/>
          </p:cNvSpPr>
          <p:nvPr>
            <p:ph idx="1"/>
          </p:nvPr>
        </p:nvSpPr>
        <p:spPr/>
        <p:txBody>
          <a:bodyPr/>
          <a:lstStyle/>
          <a:p>
            <a:r>
              <a:rPr lang="en-US" dirty="0"/>
              <a:t>Example 1 – Conflicting Instructions</a:t>
            </a:r>
          </a:p>
          <a:p>
            <a:r>
              <a:rPr lang="en-US" dirty="0"/>
              <a:t>Prompt</a:t>
            </a:r>
          </a:p>
          <a:p>
            <a:endParaRPr lang="en-US" dirty="0"/>
          </a:p>
          <a:p>
            <a:r>
              <a:rPr lang="en-US" dirty="0"/>
              <a:t>Answer in one sentence.</a:t>
            </a:r>
          </a:p>
          <a:p>
            <a:r>
              <a:rPr lang="en-US" dirty="0"/>
              <a:t>Explain Artificial Intelligence in 500 words.</a:t>
            </a:r>
            <a:endParaRPr lang="en-IN" dirty="0"/>
          </a:p>
        </p:txBody>
      </p:sp>
    </p:spTree>
    <p:extLst>
      <p:ext uri="{BB962C8B-B14F-4D97-AF65-F5344CB8AC3E}">
        <p14:creationId xmlns:p14="http://schemas.microsoft.com/office/powerpoint/2010/main" val="219388866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5CDC9-AF4E-47CB-B612-EE57EE87064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6FBFB95-A54B-49AD-A209-B4175091AF6B}"/>
              </a:ext>
            </a:extLst>
          </p:cNvPr>
          <p:cNvSpPr>
            <a:spLocks noGrp="1"/>
          </p:cNvSpPr>
          <p:nvPr>
            <p:ph idx="1"/>
          </p:nvPr>
        </p:nvSpPr>
        <p:spPr/>
        <p:txBody>
          <a:bodyPr/>
          <a:lstStyle/>
          <a:p>
            <a:r>
              <a:rPr lang="en-US" dirty="0"/>
              <a:t>Example 2 – Ambiguous Prompt</a:t>
            </a:r>
          </a:p>
          <a:p>
            <a:r>
              <a:rPr lang="en-US" dirty="0" err="1"/>
              <a:t>PromptExplain</a:t>
            </a:r>
            <a:r>
              <a:rPr lang="en-US" dirty="0"/>
              <a:t> </a:t>
            </a:r>
          </a:p>
          <a:p>
            <a:r>
              <a:rPr lang="en-US" dirty="0"/>
              <a:t>Java.</a:t>
            </a:r>
          </a:p>
          <a:p>
            <a:endParaRPr lang="en-US" dirty="0"/>
          </a:p>
          <a:p>
            <a:r>
              <a:rPr lang="en-US" dirty="0"/>
              <a:t>"Java" could refer </a:t>
            </a:r>
            <a:r>
              <a:rPr lang="en-US" dirty="0" err="1"/>
              <a:t>to:The</a:t>
            </a:r>
            <a:r>
              <a:rPr lang="en-US" dirty="0"/>
              <a:t> programming language</a:t>
            </a:r>
          </a:p>
          <a:p>
            <a:r>
              <a:rPr lang="en-US" dirty="0"/>
              <a:t>The Indonesian island</a:t>
            </a:r>
          </a:p>
          <a:p>
            <a:r>
              <a:rPr lang="en-US" dirty="0"/>
              <a:t>Coffee</a:t>
            </a:r>
            <a:endParaRPr lang="en-IN" dirty="0"/>
          </a:p>
        </p:txBody>
      </p:sp>
    </p:spTree>
    <p:extLst>
      <p:ext uri="{BB962C8B-B14F-4D97-AF65-F5344CB8AC3E}">
        <p14:creationId xmlns:p14="http://schemas.microsoft.com/office/powerpoint/2010/main" val="333013703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BD4C0-DAE9-4312-BD57-F9A4F9DF3A6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D159B8B-8943-47DB-9905-416E6460F2A8}"/>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6AEA2C2C-F1D2-4C74-9626-DA23EF9CA1FE}"/>
              </a:ext>
            </a:extLst>
          </p:cNvPr>
          <p:cNvPicPr>
            <a:picLocks noChangeAspect="1"/>
          </p:cNvPicPr>
          <p:nvPr/>
        </p:nvPicPr>
        <p:blipFill>
          <a:blip r:embed="rId2"/>
          <a:stretch>
            <a:fillRect/>
          </a:stretch>
        </p:blipFill>
        <p:spPr>
          <a:xfrm>
            <a:off x="1091928" y="1736677"/>
            <a:ext cx="10271772" cy="3708901"/>
          </a:xfrm>
          <a:prstGeom prst="rect">
            <a:avLst/>
          </a:prstGeom>
        </p:spPr>
      </p:pic>
    </p:spTree>
    <p:extLst>
      <p:ext uri="{BB962C8B-B14F-4D97-AF65-F5344CB8AC3E}">
        <p14:creationId xmlns:p14="http://schemas.microsoft.com/office/powerpoint/2010/main" val="273603538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C38D9-9D8E-4DF4-9157-36EF003A480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12EFADB-B313-4C3B-BE72-077B98BB4999}"/>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E6B4B483-4C14-462E-8071-FB6DE5A89CF4}"/>
              </a:ext>
            </a:extLst>
          </p:cNvPr>
          <p:cNvPicPr>
            <a:picLocks noChangeAspect="1"/>
          </p:cNvPicPr>
          <p:nvPr/>
        </p:nvPicPr>
        <p:blipFill>
          <a:blip r:embed="rId2"/>
          <a:stretch>
            <a:fillRect/>
          </a:stretch>
        </p:blipFill>
        <p:spPr>
          <a:xfrm>
            <a:off x="352680" y="797586"/>
            <a:ext cx="10841801" cy="3472410"/>
          </a:xfrm>
          <a:prstGeom prst="rect">
            <a:avLst/>
          </a:prstGeom>
        </p:spPr>
      </p:pic>
    </p:spTree>
    <p:extLst>
      <p:ext uri="{BB962C8B-B14F-4D97-AF65-F5344CB8AC3E}">
        <p14:creationId xmlns:p14="http://schemas.microsoft.com/office/powerpoint/2010/main" val="276127243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102E7-ACA8-42B6-8B19-92961A0BF52C}"/>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48F86122-196C-4610-BDF0-FBE06FB192B0}"/>
              </a:ext>
            </a:extLst>
          </p:cNvPr>
          <p:cNvPicPr>
            <a:picLocks noGrp="1" noChangeAspect="1"/>
          </p:cNvPicPr>
          <p:nvPr>
            <p:ph idx="1"/>
          </p:nvPr>
        </p:nvPicPr>
        <p:blipFill>
          <a:blip r:embed="rId2"/>
          <a:stretch>
            <a:fillRect/>
          </a:stretch>
        </p:blipFill>
        <p:spPr>
          <a:xfrm>
            <a:off x="1468074" y="190751"/>
            <a:ext cx="6795081" cy="6302124"/>
          </a:xfrm>
          <a:prstGeom prst="rect">
            <a:avLst/>
          </a:prstGeom>
        </p:spPr>
      </p:pic>
    </p:spTree>
    <p:extLst>
      <p:ext uri="{BB962C8B-B14F-4D97-AF65-F5344CB8AC3E}">
        <p14:creationId xmlns:p14="http://schemas.microsoft.com/office/powerpoint/2010/main" val="333501044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B936E-4176-4713-80AA-A0F3D82F9865}"/>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FADF3BAC-F82B-446B-AE0B-C12EB6DD6060}"/>
              </a:ext>
            </a:extLst>
          </p:cNvPr>
          <p:cNvGraphicFramePr>
            <a:graphicFrameLocks noGrp="1"/>
          </p:cNvGraphicFramePr>
          <p:nvPr>
            <p:ph idx="1"/>
            <p:extLst/>
          </p:nvPr>
        </p:nvGraphicFramePr>
        <p:xfrm>
          <a:off x="838200" y="1825625"/>
          <a:ext cx="10515600" cy="384556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512924984"/>
                    </a:ext>
                  </a:extLst>
                </a:gridCol>
                <a:gridCol w="3505200">
                  <a:extLst>
                    <a:ext uri="{9D8B030D-6E8A-4147-A177-3AD203B41FA5}">
                      <a16:colId xmlns:a16="http://schemas.microsoft.com/office/drawing/2014/main" val="1831497616"/>
                    </a:ext>
                  </a:extLst>
                </a:gridCol>
                <a:gridCol w="3505200">
                  <a:extLst>
                    <a:ext uri="{9D8B030D-6E8A-4147-A177-3AD203B41FA5}">
                      <a16:colId xmlns:a16="http://schemas.microsoft.com/office/drawing/2014/main" val="3625443262"/>
                    </a:ext>
                  </a:extLst>
                </a:gridCol>
              </a:tblGrid>
              <a:tr h="370840">
                <a:tc>
                  <a:txBody>
                    <a:bodyPr/>
                    <a:lstStyle/>
                    <a:p>
                      <a:r>
                        <a:rPr lang="en-IN" dirty="0"/>
                        <a:t>Domain</a:t>
                      </a:r>
                    </a:p>
                  </a:txBody>
                  <a:tcPr anchor="ctr"/>
                </a:tc>
                <a:tc>
                  <a:txBody>
                    <a:bodyPr/>
                    <a:lstStyle/>
                    <a:p>
                      <a:r>
                        <a:rPr lang="en-IN"/>
                        <a:t>Probing Prompts</a:t>
                      </a:r>
                    </a:p>
                  </a:txBody>
                  <a:tcPr anchor="ctr"/>
                </a:tc>
                <a:tc>
                  <a:txBody>
                    <a:bodyPr/>
                    <a:lstStyle/>
                    <a:p>
                      <a:r>
                        <a:rPr lang="en-IN"/>
                        <a:t>Adversarial Prompts</a:t>
                      </a:r>
                    </a:p>
                  </a:txBody>
                  <a:tcPr anchor="ctr"/>
                </a:tc>
                <a:extLst>
                  <a:ext uri="{0D108BD9-81ED-4DB2-BD59-A6C34878D82A}">
                    <a16:rowId xmlns:a16="http://schemas.microsoft.com/office/drawing/2014/main" val="949675557"/>
                  </a:ext>
                </a:extLst>
              </a:tr>
              <a:tr h="370840">
                <a:tc>
                  <a:txBody>
                    <a:bodyPr/>
                    <a:lstStyle/>
                    <a:p>
                      <a:r>
                        <a:rPr lang="en-IN"/>
                        <a:t>Education</a:t>
                      </a:r>
                    </a:p>
                  </a:txBody>
                  <a:tcPr anchor="ctr"/>
                </a:tc>
                <a:tc>
                  <a:txBody>
                    <a:bodyPr/>
                    <a:lstStyle/>
                    <a:p>
                      <a:r>
                        <a:rPr lang="en-IN"/>
                        <a:t>Test explanations and reasoning</a:t>
                      </a:r>
                    </a:p>
                  </a:txBody>
                  <a:tcPr anchor="ctr"/>
                </a:tc>
                <a:tc>
                  <a:txBody>
                    <a:bodyPr/>
                    <a:lstStyle/>
                    <a:p>
                      <a:r>
                        <a:rPr lang="en-US"/>
                        <a:t>Test consistency in grading or tutoring</a:t>
                      </a:r>
                    </a:p>
                  </a:txBody>
                  <a:tcPr anchor="ctr"/>
                </a:tc>
                <a:extLst>
                  <a:ext uri="{0D108BD9-81ED-4DB2-BD59-A6C34878D82A}">
                    <a16:rowId xmlns:a16="http://schemas.microsoft.com/office/drawing/2014/main" val="1512980660"/>
                  </a:ext>
                </a:extLst>
              </a:tr>
              <a:tr h="370840">
                <a:tc>
                  <a:txBody>
                    <a:bodyPr/>
                    <a:lstStyle/>
                    <a:p>
                      <a:r>
                        <a:rPr lang="en-IN"/>
                        <a:t>Healthcare</a:t>
                      </a:r>
                    </a:p>
                  </a:txBody>
                  <a:tcPr anchor="ctr"/>
                </a:tc>
                <a:tc>
                  <a:txBody>
                    <a:bodyPr/>
                    <a:lstStyle/>
                    <a:p>
                      <a:r>
                        <a:rPr lang="en-US"/>
                        <a:t>Check completeness of medical explanations</a:t>
                      </a:r>
                    </a:p>
                  </a:txBody>
                  <a:tcPr anchor="ctr"/>
                </a:tc>
                <a:tc>
                  <a:txBody>
                    <a:bodyPr/>
                    <a:lstStyle/>
                    <a:p>
                      <a:r>
                        <a:rPr lang="en-US"/>
                        <a:t>Ensure the model asks for missing clinical information instead of guessing</a:t>
                      </a:r>
                    </a:p>
                  </a:txBody>
                  <a:tcPr anchor="ctr"/>
                </a:tc>
                <a:extLst>
                  <a:ext uri="{0D108BD9-81ED-4DB2-BD59-A6C34878D82A}">
                    <a16:rowId xmlns:a16="http://schemas.microsoft.com/office/drawing/2014/main" val="3269518667"/>
                  </a:ext>
                </a:extLst>
              </a:tr>
              <a:tr h="370840">
                <a:tc>
                  <a:txBody>
                    <a:bodyPr/>
                    <a:lstStyle/>
                    <a:p>
                      <a:r>
                        <a:rPr lang="en-IN"/>
                        <a:t>Banking</a:t>
                      </a:r>
                    </a:p>
                  </a:txBody>
                  <a:tcPr anchor="ctr"/>
                </a:tc>
                <a:tc>
                  <a:txBody>
                    <a:bodyPr/>
                    <a:lstStyle/>
                    <a:p>
                      <a:r>
                        <a:rPr lang="en-IN"/>
                        <a:t>Verify financial reasoning</a:t>
                      </a:r>
                    </a:p>
                  </a:txBody>
                  <a:tcPr anchor="ctr"/>
                </a:tc>
                <a:tc>
                  <a:txBody>
                    <a:bodyPr/>
                    <a:lstStyle/>
                    <a:p>
                      <a:r>
                        <a:rPr lang="en-US"/>
                        <a:t>Test resistance to fraudulent or misleading requests</a:t>
                      </a:r>
                    </a:p>
                  </a:txBody>
                  <a:tcPr anchor="ctr"/>
                </a:tc>
                <a:extLst>
                  <a:ext uri="{0D108BD9-81ED-4DB2-BD59-A6C34878D82A}">
                    <a16:rowId xmlns:a16="http://schemas.microsoft.com/office/drawing/2014/main" val="2679005098"/>
                  </a:ext>
                </a:extLst>
              </a:tr>
              <a:tr h="370840">
                <a:tc>
                  <a:txBody>
                    <a:bodyPr/>
                    <a:lstStyle/>
                    <a:p>
                      <a:r>
                        <a:rPr lang="en-IN"/>
                        <a:t>Software Development</a:t>
                      </a:r>
                    </a:p>
                  </a:txBody>
                  <a:tcPr anchor="ctr"/>
                </a:tc>
                <a:tc>
                  <a:txBody>
                    <a:bodyPr/>
                    <a:lstStyle/>
                    <a:p>
                      <a:r>
                        <a:rPr lang="en-US"/>
                        <a:t>Ask the model to justify code choices</a:t>
                      </a:r>
                    </a:p>
                  </a:txBody>
                  <a:tcPr anchor="ctr"/>
                </a:tc>
                <a:tc>
                  <a:txBody>
                    <a:bodyPr/>
                    <a:lstStyle/>
                    <a:p>
                      <a:r>
                        <a:rPr lang="en-US"/>
                        <a:t>Evaluate behavior with contradictory coding requirements</a:t>
                      </a:r>
                    </a:p>
                  </a:txBody>
                  <a:tcPr anchor="ctr"/>
                </a:tc>
                <a:extLst>
                  <a:ext uri="{0D108BD9-81ED-4DB2-BD59-A6C34878D82A}">
                    <a16:rowId xmlns:a16="http://schemas.microsoft.com/office/drawing/2014/main" val="4214416934"/>
                  </a:ext>
                </a:extLst>
              </a:tr>
              <a:tr h="370840">
                <a:tc>
                  <a:txBody>
                    <a:bodyPr/>
                    <a:lstStyle/>
                    <a:p>
                      <a:r>
                        <a:rPr lang="en-IN"/>
                        <a:t>Customer Support</a:t>
                      </a:r>
                    </a:p>
                  </a:txBody>
                  <a:tcPr anchor="ctr"/>
                </a:tc>
                <a:tc>
                  <a:txBody>
                    <a:bodyPr/>
                    <a:lstStyle/>
                    <a:p>
                      <a:r>
                        <a:rPr lang="en-US"/>
                        <a:t>Assess quality and fairness of responses</a:t>
                      </a:r>
                    </a:p>
                  </a:txBody>
                  <a:tcPr anchor="ctr"/>
                </a:tc>
                <a:tc>
                  <a:txBody>
                    <a:bodyPr/>
                    <a:lstStyle/>
                    <a:p>
                      <a:r>
                        <a:rPr lang="en-US" dirty="0"/>
                        <a:t>Test handling of incomplete or ambiguous customer queries</a:t>
                      </a:r>
                    </a:p>
                  </a:txBody>
                  <a:tcPr anchor="ctr"/>
                </a:tc>
                <a:extLst>
                  <a:ext uri="{0D108BD9-81ED-4DB2-BD59-A6C34878D82A}">
                    <a16:rowId xmlns:a16="http://schemas.microsoft.com/office/drawing/2014/main" val="933989496"/>
                  </a:ext>
                </a:extLst>
              </a:tr>
            </a:tbl>
          </a:graphicData>
        </a:graphic>
      </p:graphicFrame>
    </p:spTree>
    <p:extLst>
      <p:ext uri="{BB962C8B-B14F-4D97-AF65-F5344CB8AC3E}">
        <p14:creationId xmlns:p14="http://schemas.microsoft.com/office/powerpoint/2010/main" val="316369029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3B3D7-8AD9-49F5-A98D-3837E07D8256}"/>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D87DB7F2-5CD1-473E-B11F-6F5413D17C7D}"/>
              </a:ext>
            </a:extLst>
          </p:cNvPr>
          <p:cNvGraphicFramePr>
            <a:graphicFrameLocks noGrp="1"/>
          </p:cNvGraphicFramePr>
          <p:nvPr>
            <p:ph idx="1"/>
            <p:extLst/>
          </p:nvPr>
        </p:nvGraphicFramePr>
        <p:xfrm>
          <a:off x="838200" y="1825625"/>
          <a:ext cx="10515600" cy="357124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328266976"/>
                    </a:ext>
                  </a:extLst>
                </a:gridCol>
                <a:gridCol w="3505200">
                  <a:extLst>
                    <a:ext uri="{9D8B030D-6E8A-4147-A177-3AD203B41FA5}">
                      <a16:colId xmlns:a16="http://schemas.microsoft.com/office/drawing/2014/main" val="1292739902"/>
                    </a:ext>
                  </a:extLst>
                </a:gridCol>
                <a:gridCol w="3505200">
                  <a:extLst>
                    <a:ext uri="{9D8B030D-6E8A-4147-A177-3AD203B41FA5}">
                      <a16:colId xmlns:a16="http://schemas.microsoft.com/office/drawing/2014/main" val="2009946955"/>
                    </a:ext>
                  </a:extLst>
                </a:gridCol>
              </a:tblGrid>
              <a:tr h="370840">
                <a:tc>
                  <a:txBody>
                    <a:bodyPr/>
                    <a:lstStyle/>
                    <a:p>
                      <a:r>
                        <a:rPr lang="en-IN" dirty="0"/>
                        <a:t>Feature</a:t>
                      </a:r>
                    </a:p>
                  </a:txBody>
                  <a:tcPr anchor="ctr"/>
                </a:tc>
                <a:tc>
                  <a:txBody>
                    <a:bodyPr/>
                    <a:lstStyle/>
                    <a:p>
                      <a:r>
                        <a:rPr lang="en-IN"/>
                        <a:t>Probing Prompt</a:t>
                      </a:r>
                    </a:p>
                  </a:txBody>
                  <a:tcPr anchor="ctr"/>
                </a:tc>
                <a:tc>
                  <a:txBody>
                    <a:bodyPr/>
                    <a:lstStyle/>
                    <a:p>
                      <a:r>
                        <a:rPr lang="en-IN"/>
                        <a:t>Adversarial Prompt</a:t>
                      </a:r>
                    </a:p>
                  </a:txBody>
                  <a:tcPr anchor="ctr"/>
                </a:tc>
                <a:extLst>
                  <a:ext uri="{0D108BD9-81ED-4DB2-BD59-A6C34878D82A}">
                    <a16:rowId xmlns:a16="http://schemas.microsoft.com/office/drawing/2014/main" val="3795123561"/>
                  </a:ext>
                </a:extLst>
              </a:tr>
              <a:tr h="370840">
                <a:tc>
                  <a:txBody>
                    <a:bodyPr/>
                    <a:lstStyle/>
                    <a:p>
                      <a:r>
                        <a:rPr lang="en-IN"/>
                        <a:t>Goal</a:t>
                      </a:r>
                    </a:p>
                  </a:txBody>
                  <a:tcPr anchor="ctr"/>
                </a:tc>
                <a:tc>
                  <a:txBody>
                    <a:bodyPr/>
                    <a:lstStyle/>
                    <a:p>
                      <a:r>
                        <a:rPr lang="en-US"/>
                        <a:t>Understand the model's reasoning, assumptions, or biases</a:t>
                      </a:r>
                    </a:p>
                  </a:txBody>
                  <a:tcPr anchor="ctr"/>
                </a:tc>
                <a:tc>
                  <a:txBody>
                    <a:bodyPr/>
                    <a:lstStyle/>
                    <a:p>
                      <a:r>
                        <a:rPr lang="en-US"/>
                        <a:t>Stress-test the model's robustness and safety</a:t>
                      </a:r>
                    </a:p>
                  </a:txBody>
                  <a:tcPr anchor="ctr"/>
                </a:tc>
                <a:extLst>
                  <a:ext uri="{0D108BD9-81ED-4DB2-BD59-A6C34878D82A}">
                    <a16:rowId xmlns:a16="http://schemas.microsoft.com/office/drawing/2014/main" val="2466781141"/>
                  </a:ext>
                </a:extLst>
              </a:tr>
              <a:tr h="370840">
                <a:tc>
                  <a:txBody>
                    <a:bodyPr/>
                    <a:lstStyle/>
                    <a:p>
                      <a:r>
                        <a:rPr lang="en-IN"/>
                        <a:t>Focus</a:t>
                      </a:r>
                    </a:p>
                  </a:txBody>
                  <a:tcPr anchor="ctr"/>
                </a:tc>
                <a:tc>
                  <a:txBody>
                    <a:bodyPr/>
                    <a:lstStyle/>
                    <a:p>
                      <a:r>
                        <a:rPr lang="en-IN"/>
                        <a:t>Explanation, justification, consistency</a:t>
                      </a:r>
                    </a:p>
                  </a:txBody>
                  <a:tcPr anchor="ctr"/>
                </a:tc>
                <a:tc>
                  <a:txBody>
                    <a:bodyPr/>
                    <a:lstStyle/>
                    <a:p>
                      <a:r>
                        <a:rPr lang="en-US"/>
                        <a:t>Ambiguity, conflicting instructions, edge cases</a:t>
                      </a:r>
                    </a:p>
                  </a:txBody>
                  <a:tcPr anchor="ctr"/>
                </a:tc>
                <a:extLst>
                  <a:ext uri="{0D108BD9-81ED-4DB2-BD59-A6C34878D82A}">
                    <a16:rowId xmlns:a16="http://schemas.microsoft.com/office/drawing/2014/main" val="3934821239"/>
                  </a:ext>
                </a:extLst>
              </a:tr>
              <a:tr h="370840">
                <a:tc>
                  <a:txBody>
                    <a:bodyPr/>
                    <a:lstStyle/>
                    <a:p>
                      <a:r>
                        <a:rPr lang="en-IN"/>
                        <a:t>Typical Questions</a:t>
                      </a:r>
                    </a:p>
                  </a:txBody>
                  <a:tcPr anchor="ctr"/>
                </a:tc>
                <a:tc>
                  <a:txBody>
                    <a:bodyPr/>
                    <a:lstStyle/>
                    <a:p>
                      <a:r>
                        <a:rPr lang="en-IN"/>
                        <a:t>Why? How? Compare. Justify.</a:t>
                      </a:r>
                    </a:p>
                  </a:txBody>
                  <a:tcPr anchor="ctr"/>
                </a:tc>
                <a:tc>
                  <a:txBody>
                    <a:bodyPr/>
                    <a:lstStyle/>
                    <a:p>
                      <a:r>
                        <a:rPr lang="en-US"/>
                        <a:t>What happens if...? Can it handle contradictions?</a:t>
                      </a:r>
                    </a:p>
                  </a:txBody>
                  <a:tcPr anchor="ctr"/>
                </a:tc>
                <a:extLst>
                  <a:ext uri="{0D108BD9-81ED-4DB2-BD59-A6C34878D82A}">
                    <a16:rowId xmlns:a16="http://schemas.microsoft.com/office/drawing/2014/main" val="157956625"/>
                  </a:ext>
                </a:extLst>
              </a:tr>
              <a:tr h="370840">
                <a:tc>
                  <a:txBody>
                    <a:bodyPr/>
                    <a:lstStyle/>
                    <a:p>
                      <a:r>
                        <a:rPr lang="en-IN"/>
                        <a:t>Used By</a:t>
                      </a:r>
                    </a:p>
                  </a:txBody>
                  <a:tcPr anchor="ctr"/>
                </a:tc>
                <a:tc>
                  <a:txBody>
                    <a:bodyPr/>
                    <a:lstStyle/>
                    <a:p>
                      <a:r>
                        <a:rPr lang="en-IN"/>
                        <a:t>Educators, researchers, evaluators</a:t>
                      </a:r>
                    </a:p>
                  </a:txBody>
                  <a:tcPr anchor="ctr"/>
                </a:tc>
                <a:tc>
                  <a:txBody>
                    <a:bodyPr/>
                    <a:lstStyle/>
                    <a:p>
                      <a:r>
                        <a:rPr lang="en-US"/>
                        <a:t>AI developers, QA engineers, security researchers</a:t>
                      </a:r>
                    </a:p>
                  </a:txBody>
                  <a:tcPr anchor="ctr"/>
                </a:tc>
                <a:extLst>
                  <a:ext uri="{0D108BD9-81ED-4DB2-BD59-A6C34878D82A}">
                    <a16:rowId xmlns:a16="http://schemas.microsoft.com/office/drawing/2014/main" val="1306784051"/>
                  </a:ext>
                </a:extLst>
              </a:tr>
              <a:tr h="370840">
                <a:tc>
                  <a:txBody>
                    <a:bodyPr/>
                    <a:lstStyle/>
                    <a:p>
                      <a:r>
                        <a:rPr lang="en-IN"/>
                        <a:t>Primary Outcome</a:t>
                      </a:r>
                    </a:p>
                  </a:txBody>
                  <a:tcPr anchor="ctr"/>
                </a:tc>
                <a:tc>
                  <a:txBody>
                    <a:bodyPr/>
                    <a:lstStyle/>
                    <a:p>
                      <a:r>
                        <a:rPr lang="en-IN"/>
                        <a:t>Better understanding of model behavior</a:t>
                      </a:r>
                    </a:p>
                  </a:txBody>
                  <a:tcPr anchor="ctr"/>
                </a:tc>
                <a:tc>
                  <a:txBody>
                    <a:bodyPr/>
                    <a:lstStyle/>
                    <a:p>
                      <a:r>
                        <a:rPr lang="en-US" dirty="0"/>
                        <a:t>Improved reliability, resilience, and safety</a:t>
                      </a:r>
                    </a:p>
                  </a:txBody>
                  <a:tcPr anchor="ctr"/>
                </a:tc>
                <a:extLst>
                  <a:ext uri="{0D108BD9-81ED-4DB2-BD59-A6C34878D82A}">
                    <a16:rowId xmlns:a16="http://schemas.microsoft.com/office/drawing/2014/main" val="537840147"/>
                  </a:ext>
                </a:extLst>
              </a:tr>
            </a:tbl>
          </a:graphicData>
        </a:graphic>
      </p:graphicFrame>
    </p:spTree>
    <p:extLst>
      <p:ext uri="{BB962C8B-B14F-4D97-AF65-F5344CB8AC3E}">
        <p14:creationId xmlns:p14="http://schemas.microsoft.com/office/powerpoint/2010/main" val="114589255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F30E7-E1EB-4EE2-B83E-1027DF140AC7}"/>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CFB518A5-98F8-4227-855D-0E54ED711503}"/>
              </a:ext>
            </a:extLst>
          </p:cNvPr>
          <p:cNvGraphicFramePr>
            <a:graphicFrameLocks noGrp="1"/>
          </p:cNvGraphicFramePr>
          <p:nvPr>
            <p:ph idx="1"/>
            <p:extLst/>
          </p:nvPr>
        </p:nvGraphicFramePr>
        <p:xfrm>
          <a:off x="838200" y="1825625"/>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629380745"/>
                    </a:ext>
                  </a:extLst>
                </a:gridCol>
                <a:gridCol w="5257800">
                  <a:extLst>
                    <a:ext uri="{9D8B030D-6E8A-4147-A177-3AD203B41FA5}">
                      <a16:colId xmlns:a16="http://schemas.microsoft.com/office/drawing/2014/main" val="2033043346"/>
                    </a:ext>
                  </a:extLst>
                </a:gridCol>
              </a:tblGrid>
              <a:tr h="370840">
                <a:tc>
                  <a:txBody>
                    <a:bodyPr/>
                    <a:lstStyle/>
                    <a:p>
                      <a:r>
                        <a:rPr lang="en-IN" dirty="0"/>
                        <a:t>Prompt Engineering</a:t>
                      </a:r>
                    </a:p>
                  </a:txBody>
                  <a:tcPr anchor="ctr"/>
                </a:tc>
                <a:tc>
                  <a:txBody>
                    <a:bodyPr/>
                    <a:lstStyle/>
                    <a:p>
                      <a:r>
                        <a:rPr lang="en-IN"/>
                        <a:t>Fine-Tuning</a:t>
                      </a:r>
                    </a:p>
                  </a:txBody>
                  <a:tcPr anchor="ctr"/>
                </a:tc>
                <a:extLst>
                  <a:ext uri="{0D108BD9-81ED-4DB2-BD59-A6C34878D82A}">
                    <a16:rowId xmlns:a16="http://schemas.microsoft.com/office/drawing/2014/main" val="162182280"/>
                  </a:ext>
                </a:extLst>
              </a:tr>
              <a:tr h="370840">
                <a:tc>
                  <a:txBody>
                    <a:bodyPr/>
                    <a:lstStyle/>
                    <a:p>
                      <a:r>
                        <a:rPr lang="en-IN"/>
                        <a:t>No retraining</a:t>
                      </a:r>
                    </a:p>
                  </a:txBody>
                  <a:tcPr anchor="ctr"/>
                </a:tc>
                <a:tc>
                  <a:txBody>
                    <a:bodyPr/>
                    <a:lstStyle/>
                    <a:p>
                      <a:r>
                        <a:rPr lang="en-IN"/>
                        <a:t>Requires retraining</a:t>
                      </a:r>
                    </a:p>
                  </a:txBody>
                  <a:tcPr anchor="ctr"/>
                </a:tc>
                <a:extLst>
                  <a:ext uri="{0D108BD9-81ED-4DB2-BD59-A6C34878D82A}">
                    <a16:rowId xmlns:a16="http://schemas.microsoft.com/office/drawing/2014/main" val="3972183293"/>
                  </a:ext>
                </a:extLst>
              </a:tr>
              <a:tr h="370840">
                <a:tc>
                  <a:txBody>
                    <a:bodyPr/>
                    <a:lstStyle/>
                    <a:p>
                      <a:r>
                        <a:rPr lang="en-IN"/>
                        <a:t>Fast</a:t>
                      </a:r>
                    </a:p>
                  </a:txBody>
                  <a:tcPr anchor="ctr"/>
                </a:tc>
                <a:tc>
                  <a:txBody>
                    <a:bodyPr/>
                    <a:lstStyle/>
                    <a:p>
                      <a:r>
                        <a:rPr lang="en-IN"/>
                        <a:t>Time-consuming</a:t>
                      </a:r>
                    </a:p>
                  </a:txBody>
                  <a:tcPr anchor="ctr"/>
                </a:tc>
                <a:extLst>
                  <a:ext uri="{0D108BD9-81ED-4DB2-BD59-A6C34878D82A}">
                    <a16:rowId xmlns:a16="http://schemas.microsoft.com/office/drawing/2014/main" val="2095239535"/>
                  </a:ext>
                </a:extLst>
              </a:tr>
              <a:tr h="370840">
                <a:tc>
                  <a:txBody>
                    <a:bodyPr/>
                    <a:lstStyle/>
                    <a:p>
                      <a:r>
                        <a:rPr lang="en-IN"/>
                        <a:t>Low cost</a:t>
                      </a:r>
                    </a:p>
                  </a:txBody>
                  <a:tcPr anchor="ctr"/>
                </a:tc>
                <a:tc>
                  <a:txBody>
                    <a:bodyPr/>
                    <a:lstStyle/>
                    <a:p>
                      <a:r>
                        <a:rPr lang="en-IN"/>
                        <a:t>Expensive</a:t>
                      </a:r>
                    </a:p>
                  </a:txBody>
                  <a:tcPr anchor="ctr"/>
                </a:tc>
                <a:extLst>
                  <a:ext uri="{0D108BD9-81ED-4DB2-BD59-A6C34878D82A}">
                    <a16:rowId xmlns:a16="http://schemas.microsoft.com/office/drawing/2014/main" val="347448447"/>
                  </a:ext>
                </a:extLst>
              </a:tr>
              <a:tr h="370840">
                <a:tc>
                  <a:txBody>
                    <a:bodyPr/>
                    <a:lstStyle/>
                    <a:p>
                      <a:r>
                        <a:rPr lang="en-IN"/>
                        <a:t>Easy to modify</a:t>
                      </a:r>
                    </a:p>
                  </a:txBody>
                  <a:tcPr anchor="ctr"/>
                </a:tc>
                <a:tc>
                  <a:txBody>
                    <a:bodyPr/>
                    <a:lstStyle/>
                    <a:p>
                      <a:r>
                        <a:rPr lang="en-IN"/>
                        <a:t>Requires training data</a:t>
                      </a:r>
                    </a:p>
                  </a:txBody>
                  <a:tcPr anchor="ctr"/>
                </a:tc>
                <a:extLst>
                  <a:ext uri="{0D108BD9-81ED-4DB2-BD59-A6C34878D82A}">
                    <a16:rowId xmlns:a16="http://schemas.microsoft.com/office/drawing/2014/main" val="685423928"/>
                  </a:ext>
                </a:extLst>
              </a:tr>
              <a:tr h="370840">
                <a:tc>
                  <a:txBody>
                    <a:bodyPr/>
                    <a:lstStyle/>
                    <a:p>
                      <a:r>
                        <a:rPr lang="en-IN"/>
                        <a:t>Changes instructions only</a:t>
                      </a:r>
                    </a:p>
                  </a:txBody>
                  <a:tcPr anchor="ctr"/>
                </a:tc>
                <a:tc>
                  <a:txBody>
                    <a:bodyPr/>
                    <a:lstStyle/>
                    <a:p>
                      <a:r>
                        <a:rPr lang="en-IN"/>
                        <a:t>Changes model parameters</a:t>
                      </a:r>
                    </a:p>
                  </a:txBody>
                  <a:tcPr anchor="ctr"/>
                </a:tc>
                <a:extLst>
                  <a:ext uri="{0D108BD9-81ED-4DB2-BD59-A6C34878D82A}">
                    <a16:rowId xmlns:a16="http://schemas.microsoft.com/office/drawing/2014/main" val="2543815515"/>
                  </a:ext>
                </a:extLst>
              </a:tr>
              <a:tr h="370840">
                <a:tc>
                  <a:txBody>
                    <a:bodyPr/>
                    <a:lstStyle/>
                    <a:p>
                      <a:r>
                        <a:rPr lang="en-IN"/>
                        <a:t>Best for most applications</a:t>
                      </a:r>
                    </a:p>
                  </a:txBody>
                  <a:tcPr anchor="ctr"/>
                </a:tc>
                <a:tc>
                  <a:txBody>
                    <a:bodyPr/>
                    <a:lstStyle/>
                    <a:p>
                      <a:r>
                        <a:rPr lang="en-IN" dirty="0"/>
                        <a:t>Best for specialized domains</a:t>
                      </a:r>
                    </a:p>
                  </a:txBody>
                  <a:tcPr anchor="ctr"/>
                </a:tc>
                <a:extLst>
                  <a:ext uri="{0D108BD9-81ED-4DB2-BD59-A6C34878D82A}">
                    <a16:rowId xmlns:a16="http://schemas.microsoft.com/office/drawing/2014/main" val="4166057552"/>
                  </a:ext>
                </a:extLst>
              </a:tr>
            </a:tbl>
          </a:graphicData>
        </a:graphic>
      </p:graphicFrame>
    </p:spTree>
    <p:extLst>
      <p:ext uri="{BB962C8B-B14F-4D97-AF65-F5344CB8AC3E}">
        <p14:creationId xmlns:p14="http://schemas.microsoft.com/office/powerpoint/2010/main" val="289582026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FD6F4-EE48-435C-A237-A20167B4D83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F0AF18C-FE3A-4A37-BEBD-9B315A3FF0D3}"/>
              </a:ext>
            </a:extLst>
          </p:cNvPr>
          <p:cNvSpPr>
            <a:spLocks noGrp="1"/>
          </p:cNvSpPr>
          <p:nvPr>
            <p:ph idx="1"/>
          </p:nvPr>
        </p:nvSpPr>
        <p:spPr/>
        <p:txBody>
          <a:bodyPr>
            <a:normAutofit fontScale="62500" lnSpcReduction="20000"/>
          </a:bodyPr>
          <a:lstStyle/>
          <a:p>
            <a:r>
              <a:rPr lang="en-IN" dirty="0"/>
              <a:t>What is Artificial Intelligence?</a:t>
            </a:r>
          </a:p>
          <a:p>
            <a:endParaRPr lang="en-US" dirty="0"/>
          </a:p>
          <a:p>
            <a:endParaRPr lang="en-IN" dirty="0"/>
          </a:p>
          <a:p>
            <a:r>
              <a:rPr lang="en-US" dirty="0"/>
              <a:t>You are a professor teaching first-year engineering students.</a:t>
            </a:r>
          </a:p>
          <a:p>
            <a:r>
              <a:rPr lang="en-US" dirty="0"/>
              <a:t>Explain Artificial Intelligence.</a:t>
            </a:r>
          </a:p>
          <a:p>
            <a:r>
              <a:rPr lang="en-US" dirty="0"/>
              <a:t>Include</a:t>
            </a:r>
          </a:p>
          <a:p>
            <a:endParaRPr lang="en-US" dirty="0"/>
          </a:p>
          <a:p>
            <a:r>
              <a:rPr lang="en-US" dirty="0"/>
              <a:t>- Definition</a:t>
            </a:r>
          </a:p>
          <a:p>
            <a:r>
              <a:rPr lang="en-US" dirty="0"/>
              <a:t>- History</a:t>
            </a:r>
          </a:p>
          <a:p>
            <a:r>
              <a:rPr lang="en-US" dirty="0"/>
              <a:t>- Applications</a:t>
            </a:r>
          </a:p>
          <a:p>
            <a:r>
              <a:rPr lang="en-US" dirty="0"/>
              <a:t>- Examples</a:t>
            </a:r>
          </a:p>
          <a:p>
            <a:endParaRPr lang="en-US" dirty="0"/>
          </a:p>
          <a:p>
            <a:r>
              <a:rPr lang="en-US" dirty="0"/>
              <a:t>Maximum 300 words.</a:t>
            </a:r>
            <a:endParaRPr lang="en-IN" dirty="0"/>
          </a:p>
        </p:txBody>
      </p:sp>
    </p:spTree>
    <p:extLst>
      <p:ext uri="{BB962C8B-B14F-4D97-AF65-F5344CB8AC3E}">
        <p14:creationId xmlns:p14="http://schemas.microsoft.com/office/powerpoint/2010/main" val="257780406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91DF5-0361-49C1-91EA-28CF6616A8F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DF30036-3338-4914-AF6D-EE4C0653FBB7}"/>
              </a:ext>
            </a:extLst>
          </p:cNvPr>
          <p:cNvPicPr>
            <a:picLocks noGrp="1" noChangeAspect="1"/>
          </p:cNvPicPr>
          <p:nvPr>
            <p:ph idx="1"/>
          </p:nvPr>
        </p:nvPicPr>
        <p:blipFill>
          <a:blip r:embed="rId2"/>
          <a:stretch>
            <a:fillRect/>
          </a:stretch>
        </p:blipFill>
        <p:spPr>
          <a:xfrm>
            <a:off x="5283158" y="3588523"/>
            <a:ext cx="1625684" cy="825542"/>
          </a:xfrm>
          <a:prstGeom prst="rect">
            <a:avLst/>
          </a:prstGeom>
        </p:spPr>
      </p:pic>
      <p:pic>
        <p:nvPicPr>
          <p:cNvPr id="4" name="Picture 3">
            <a:extLst>
              <a:ext uri="{FF2B5EF4-FFF2-40B4-BE49-F238E27FC236}">
                <a16:creationId xmlns:a16="http://schemas.microsoft.com/office/drawing/2014/main" id="{53E7C4D6-98AF-48DE-8307-AB8258211BF6}"/>
              </a:ext>
            </a:extLst>
          </p:cNvPr>
          <p:cNvPicPr>
            <a:picLocks noChangeAspect="1"/>
          </p:cNvPicPr>
          <p:nvPr/>
        </p:nvPicPr>
        <p:blipFill>
          <a:blip r:embed="rId3"/>
          <a:stretch>
            <a:fillRect/>
          </a:stretch>
        </p:blipFill>
        <p:spPr>
          <a:xfrm>
            <a:off x="375559" y="109019"/>
            <a:ext cx="7609115" cy="6639961"/>
          </a:xfrm>
          <a:prstGeom prst="rect">
            <a:avLst/>
          </a:prstGeom>
        </p:spPr>
      </p:pic>
      <p:pic>
        <p:nvPicPr>
          <p:cNvPr id="6" name="Picture 5">
            <a:extLst>
              <a:ext uri="{FF2B5EF4-FFF2-40B4-BE49-F238E27FC236}">
                <a16:creationId xmlns:a16="http://schemas.microsoft.com/office/drawing/2014/main" id="{C7C387AC-39B0-40C0-A2FC-3BBDDB79260C}"/>
              </a:ext>
            </a:extLst>
          </p:cNvPr>
          <p:cNvPicPr>
            <a:picLocks noChangeAspect="1"/>
          </p:cNvPicPr>
          <p:nvPr/>
        </p:nvPicPr>
        <p:blipFill>
          <a:blip r:embed="rId4"/>
          <a:stretch>
            <a:fillRect/>
          </a:stretch>
        </p:blipFill>
        <p:spPr>
          <a:xfrm>
            <a:off x="7500825" y="1850178"/>
            <a:ext cx="4591206" cy="2369656"/>
          </a:xfrm>
          <a:prstGeom prst="rect">
            <a:avLst/>
          </a:prstGeom>
        </p:spPr>
      </p:pic>
    </p:spTree>
    <p:extLst>
      <p:ext uri="{BB962C8B-B14F-4D97-AF65-F5344CB8AC3E}">
        <p14:creationId xmlns:p14="http://schemas.microsoft.com/office/powerpoint/2010/main" val="261142262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985E0-908E-4E9A-84D7-86212652077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C36247-699F-492B-938B-71FC42387CC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22333611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9C9B1-38B1-4CDF-8B84-A43C9845E6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1EAD924-F8F4-4812-9BE9-27BADE20D69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619686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2350</Words>
  <Application>Microsoft Office PowerPoint</Application>
  <PresentationFormat>Widescreen</PresentationFormat>
  <Paragraphs>422</Paragraphs>
  <Slides>117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117</vt:i4>
      </vt:variant>
    </vt:vector>
  </HeadingPairs>
  <TitlesOfParts>
    <vt:vector size="123" baseType="lpstr">
      <vt:lpstr>Arial</vt:lpstr>
      <vt:lpstr>Calibri</vt:lpstr>
      <vt:lpstr>Calibri Light</vt:lpstr>
      <vt:lpstr>LibreBaskerville-Bold</vt:lpstr>
      <vt:lpstr>LibreBaskerville-Regular</vt:lpstr>
      <vt:lpstr>Office Theme</vt:lpstr>
      <vt:lpstr>AI – TOOLS  &amp; EFFECTIVE PROMPT PRACTICES</vt:lpstr>
      <vt:lpstr>Prompt comparision  GPT/Gemini/Claude</vt:lpstr>
      <vt:lpstr>gpt</vt:lpstr>
      <vt:lpstr>gemini</vt:lpstr>
      <vt:lpstr>claude</vt:lpstr>
      <vt:lpstr>Prompt Anatomy </vt:lpstr>
      <vt:lpstr>PowerPoint Presentation</vt:lpstr>
      <vt:lpstr>Note Book LM - google</vt:lpstr>
      <vt:lpstr>PowerPoint Presentation</vt:lpstr>
      <vt:lpstr>PowerPoint Presentation</vt:lpstr>
      <vt:lpstr>PowerPoint Presentation</vt:lpstr>
      <vt:lpstr>PowerPoint Presentation</vt:lpstr>
      <vt:lpstr>PowerPoint Presentation</vt:lpstr>
      <vt:lpstr>Ask different questions</vt:lpstr>
      <vt:lpstr>PowerPoint Presentation</vt:lpstr>
      <vt:lpstr>PowerPoint Presentation</vt:lpstr>
      <vt:lpstr>https://app.notion.com/ai</vt:lpstr>
      <vt:lpstr>PowerPoint Presentation</vt:lpstr>
      <vt:lpstr>PowerPoint Presentation</vt:lpstr>
      <vt:lpstr>PowerPoint Presentation</vt:lpstr>
      <vt:lpstr>https://gamma.app/</vt:lpstr>
      <vt:lpstr>PowerPoint Presentation</vt:lpstr>
      <vt:lpstr>PowerPoint Presentation</vt:lpstr>
      <vt:lpstr>PowerPoint Presentation</vt:lpstr>
      <vt:lpstr>https://www.napkin.ai/</vt:lpstr>
      <vt:lpstr>PowerPoint Presentation</vt:lpstr>
      <vt:lpstr>PowerPoint Presentation</vt:lpstr>
      <vt:lpstr>Describing idea</vt:lpstr>
      <vt:lpstr>PowerPoint Presentation</vt:lpstr>
      <vt:lpstr>PowerPoint Presentation</vt:lpstr>
      <vt:lpstr>Give to your napkin create images</vt:lpstr>
      <vt:lpstr>Adobe firefly create images</vt:lpstr>
      <vt:lpstr>Edit images-adobe firefly</vt:lpstr>
      <vt:lpstr>https://elevenlabs.io/app/home</vt:lpstr>
      <vt:lpstr>PowerPoint Presentation</vt:lpstr>
      <vt:lpstr>PowerPoint Presentation</vt:lpstr>
      <vt:lpstr>PowerPoint Presentation</vt:lpstr>
      <vt:lpstr>PowerPoint Presentation</vt:lpstr>
      <vt:lpstr>PowerPoint Presentation</vt:lpstr>
      <vt:lpstr>PowerPoint Presentation</vt:lpstr>
      <vt:lpstr>Voice over script</vt:lpstr>
      <vt:lpstr>Compare voices</vt:lpstr>
      <vt:lpstr>Product scene variation</vt:lpstr>
      <vt:lpstr>Text summarizer</vt:lpstr>
      <vt:lpstr>Humanize ai</vt:lpstr>
      <vt:lpstr>Ai video generator</vt:lpstr>
      <vt:lpstr>You Tube summary </vt:lpstr>
      <vt:lpstr>Text to sql commands</vt:lpstr>
      <vt:lpstr>PowerPoint Presentation</vt:lpstr>
      <vt:lpstr>Mathematical /science Tool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Mathematical/Science Tool</vt:lpstr>
      <vt:lpstr>Suno-ai music</vt:lpstr>
      <vt:lpstr>AI Music generator</vt:lpstr>
      <vt:lpstr>Effective prompt/with upfront</vt:lpstr>
      <vt:lpstr>Effective prompt/with upfront</vt:lpstr>
      <vt:lpstr>Effective prompt/with examples</vt:lpstr>
      <vt:lpstr>Effective prompt/response length</vt:lpstr>
      <vt:lpstr>Effective prompt/Be Concise and Avoid Multiple Questions</vt:lpstr>
      <vt:lpstr>Effective prompt/Using Action Verbs in Prompts</vt:lpstr>
      <vt:lpstr>Effective prompt/Tone of Voice in Prompts</vt:lpstr>
      <vt:lpstr>Effective prompt/"Pretend You Are an Expert"</vt:lpstr>
      <vt:lpstr>Effective prompt/Play Devil's Advocate </vt:lpstr>
      <vt:lpstr>Effective prompt/"Pretend You Are My Consultant"</vt:lpstr>
      <vt:lpstr>Prompt engineering </vt:lpstr>
      <vt:lpstr>What is Prompt Engineering?</vt:lpstr>
      <vt:lpstr>PowerPoint Presentation</vt:lpstr>
      <vt:lpstr>PowerPoint Presentation</vt:lpstr>
      <vt:lpstr>PowerPoint Presentation</vt:lpstr>
      <vt:lpstr>Why Prompt Engineering Matters</vt:lpstr>
      <vt:lpstr>PowerPoint Presentation</vt:lpstr>
      <vt:lpstr>PowerPoint Presentation</vt:lpstr>
      <vt:lpstr>PowerPoint Presentation</vt:lpstr>
      <vt:lpstr>Traditional ML / LLM workflow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Improving Open Prompts</vt:lpstr>
      <vt:lpstr>PowerPoint Presentation</vt:lpstr>
      <vt:lpstr>PowerPoint Presentation</vt:lpstr>
      <vt:lpstr>PowerPoint Presentation</vt:lpstr>
      <vt:lpstr>qa</vt:lpstr>
      <vt:lpstr>PowerPoint Presentation</vt:lpstr>
      <vt:lpstr>PowerPoint Presentation</vt:lpstr>
      <vt:lpstr>PowerPoint Presentation</vt:lpstr>
      <vt:lpstr>PowerPoint Presentation</vt:lpstr>
      <vt:lpstr>PowerPoint Presentation</vt:lpstr>
      <vt:lpstr>Activity-probing prompt</vt:lpstr>
      <vt:lpstr>Bias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27</cp:revision>
  <dcterms:created xsi:type="dcterms:W3CDTF">2026-09-16T03:57:39Z</dcterms:created>
  <dcterms:modified xsi:type="dcterms:W3CDTF">2026-09-17T03:37:41Z</dcterms:modified>
</cp:coreProperties>
</file>